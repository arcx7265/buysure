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51feace61b4f00" /><Relationship Type="http://schemas.openxmlformats.org/officeDocument/2006/relationships/extended-properties" Target="/docProps/app.xml" Id="Rdac6a59196d54283" /><Relationship Type="http://schemas.openxmlformats.org/officeDocument/2006/relationships/officeDocument" Target="/ppt/presentation.xml" Id="Rd781d6d5998149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01b726b6894174"/>
  </p:sldMasterIdLst>
  <p:notesMasterIdLst>
    <p:notesMasterId xmlns:r="http://schemas.openxmlformats.org/officeDocument/2006/relationships" r:id="R8c640fdc14154d57"/>
  </p:notesMasterIdLst>
  <p:sldIdLst>
    <p:sldId xmlns:r="http://schemas.openxmlformats.org/officeDocument/2006/relationships" id="256" r:id="R06afab45514a4025"/>
    <p:sldId xmlns:r="http://schemas.openxmlformats.org/officeDocument/2006/relationships" id="257" r:id="R4de6eb0e71034c2d"/>
    <p:sldId xmlns:r="http://schemas.openxmlformats.org/officeDocument/2006/relationships" id="258" r:id="R80f8075ac99941e4"/>
    <p:sldId xmlns:r="http://schemas.openxmlformats.org/officeDocument/2006/relationships" id="259" r:id="Rc98e7bb0c3684c55"/>
    <p:sldId xmlns:r="http://schemas.openxmlformats.org/officeDocument/2006/relationships" id="260" r:id="Ra88922ebcd2341f5"/>
    <p:sldId xmlns:r="http://schemas.openxmlformats.org/officeDocument/2006/relationships" id="261" r:id="R5d239492dd5e4d48"/>
    <p:sldId xmlns:r="http://schemas.openxmlformats.org/officeDocument/2006/relationships" id="262" r:id="R8f8aa26c2e244d1d"/>
    <p:sldId xmlns:r="http://schemas.openxmlformats.org/officeDocument/2006/relationships" id="263" r:id="R07f069777cf945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188d5e1d048dc" /><Relationship Type="http://schemas.openxmlformats.org/officeDocument/2006/relationships/slideMaster" Target="/ppt/slideMasters/slideMaster1.xml" Id="R8201b726b6894174" /><Relationship Type="http://schemas.openxmlformats.org/officeDocument/2006/relationships/notesMaster" Target="/ppt/notesMasters/notesMaster1.xml" Id="R8c640fdc14154d57" /><Relationship Type="http://schemas.openxmlformats.org/officeDocument/2006/relationships/presProps" Target="/ppt/presProps.xml" Id="R43cf4cd3183440a0" /><Relationship Type="http://schemas.openxmlformats.org/officeDocument/2006/relationships/tableStyles" Target="/ppt/tableStyles.xml" Id="Re6a70f754c914403" /><Relationship Type="http://schemas.openxmlformats.org/officeDocument/2006/relationships/slide" Target="/ppt/slides/slide1.xml" Id="R06afab45514a4025" /><Relationship Type="http://schemas.openxmlformats.org/officeDocument/2006/relationships/slide" Target="/ppt/slides/slide2.xml" Id="R4de6eb0e71034c2d" /><Relationship Type="http://schemas.openxmlformats.org/officeDocument/2006/relationships/slide" Target="/ppt/slides/slide3.xml" Id="R80f8075ac99941e4" /><Relationship Type="http://schemas.openxmlformats.org/officeDocument/2006/relationships/slide" Target="/ppt/slides/slide4.xml" Id="Rc98e7bb0c3684c55" /><Relationship Type="http://schemas.openxmlformats.org/officeDocument/2006/relationships/slide" Target="/ppt/slides/slide5.xml" Id="Ra88922ebcd2341f5" /><Relationship Type="http://schemas.openxmlformats.org/officeDocument/2006/relationships/slide" Target="/ppt/slides/slide6.xml" Id="R5d239492dd5e4d48" /><Relationship Type="http://schemas.openxmlformats.org/officeDocument/2006/relationships/slide" Target="/ppt/slides/slide7.xml" Id="R8f8aa26c2e244d1d" /><Relationship Type="http://schemas.openxmlformats.org/officeDocument/2006/relationships/slide" Target="/ppt/slides/slide8.xml" Id="R07f069777cf945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67a9e0b3d3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98cfbd8cb7491a" /><Relationship Type="http://schemas.openxmlformats.org/officeDocument/2006/relationships/notesMaster" Target="/ppt/notesMasters/notesMaster1.xml" Id="Re0dfdd218b9342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72cc09682141be" /><Relationship Type="http://schemas.openxmlformats.org/officeDocument/2006/relationships/notesMaster" Target="/ppt/notesMasters/notesMaster1.xml" Id="Re7d39e88c79747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2b47ddd8d4f34" /><Relationship Type="http://schemas.openxmlformats.org/officeDocument/2006/relationships/notesMaster" Target="/ppt/notesMasters/notesMaster1.xml" Id="Rff6adc1771054d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8df37d11ee40ba" /><Relationship Type="http://schemas.openxmlformats.org/officeDocument/2006/relationships/notesMaster" Target="/ppt/notesMasters/notesMaster1.xml" Id="R3fb5c106869c4a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a3b2ae89c74c87" /><Relationship Type="http://schemas.openxmlformats.org/officeDocument/2006/relationships/notesMaster" Target="/ppt/notesMasters/notesMaster1.xml" Id="R301db2fba4d949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2b9f6b026f4486" /><Relationship Type="http://schemas.openxmlformats.org/officeDocument/2006/relationships/notesMaster" Target="/ppt/notesMasters/notesMaster1.xml" Id="Rf5917d629f894e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a61feecc14407" /><Relationship Type="http://schemas.openxmlformats.org/officeDocument/2006/relationships/notesMaster" Target="/ppt/notesMasters/notesMaster1.xml" Id="Rc125356d184d4c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f9698738864475" /><Relationship Type="http://schemas.openxmlformats.org/officeDocument/2006/relationships/notesMaster" Target="/ppt/notesMasters/notesMaster1.xml" Id="Refa147a70cd3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3339450ae43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9a59c953ba4b72" /><Relationship Type="http://schemas.openxmlformats.org/officeDocument/2006/relationships/slideLayout" Target="/ppt/slideLayouts/slideLayout1.xml" Id="Ra0dae68dd08949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ae68dd08949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fce0663d54c28" /><Relationship Type="http://schemas.openxmlformats.org/officeDocument/2006/relationships/notesSlide" Target="/ppt/notesSlides/notesSlide1.xml" Id="Rbbd33460a9e54b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0e3c328f94ebf" /><Relationship Type="http://schemas.openxmlformats.org/officeDocument/2006/relationships/notesSlide" Target="/ppt/notesSlides/notesSlide2.xml" Id="R7ee28bcc3c894e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a8bc4ab154bcc" /><Relationship Type="http://schemas.openxmlformats.org/officeDocument/2006/relationships/notesSlide" Target="/ppt/notesSlides/notesSlide3.xml" Id="R97b6410596bf4c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548f161624450" /><Relationship Type="http://schemas.openxmlformats.org/officeDocument/2006/relationships/notesSlide" Target="/ppt/notesSlides/notesSlide4.xml" Id="R5111d4adbd4c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7dfa48e074ecd" /><Relationship Type="http://schemas.openxmlformats.org/officeDocument/2006/relationships/notesSlide" Target="/ppt/notesSlides/notesSlide5.xml" Id="R6e1af840d80e48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ec0c6b6544ec1" /><Relationship Type="http://schemas.openxmlformats.org/officeDocument/2006/relationships/notesSlide" Target="/ppt/notesSlides/notesSlide6.xml" Id="Rec79743606b14c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81a444c52498c" /><Relationship Type="http://schemas.openxmlformats.org/officeDocument/2006/relationships/notesSlide" Target="/ppt/notesSlides/notesSlide7.xml" Id="Rce045658419042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2fe514c7f401d" /><Relationship Type="http://schemas.openxmlformats.org/officeDocument/2006/relationships/notesSlide" Target="/ppt/notesSlides/notesSlide8.xml" Id="R7eaaa40fb3784b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05066-B28A-4C35-BEC7-004032B5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iQOO HACKATHON 2026  •  TECHNICAL SELECTION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3C7FA-F487-4B8B-8950-0A259C89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71C35"/>
                </a:solidFill>
              </a:defRPr>
            </a:pPr>
            <a:r>
              <a:rPr sz="4650" b="1">
                <a:solidFill>
                  <a:srgbClr val="071C35"/>
                </a:solidFill>
              </a:rPr>
              <a:t>DealTwin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D7D6F-C349-47CB-AA26-806ADB92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A45"/>
                </a:solidFill>
              </a:defRPr>
            </a:pPr>
            <a:r>
              <a:rPr sz="2025" b="1">
                <a:solidFill>
                  <a:srgbClr val="132A45"/>
                </a:solidFill>
              </a:rPr>
              <a:t>A local-first evidence reconciliation engine for consumer transactions.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8A7D4-EF25-4D9E-B2CC-D3ECF9E3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F88"/>
                </a:solidFill>
              </a:defRPr>
            </a:pPr>
            <a:r>
              <a:rPr sz="1350" b="0">
                <a:solidFill>
                  <a:srgbClr val="5A6F88"/>
                </a:solidFill>
              </a:rPr>
              <a:t>It converts advertisements, conversations and final paperwork into a source-linked Promise Ledger—before payment or signature.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D9EBF-E4ED-4DD8-A6E7-5A98A52E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59435-0EF7-45EB-90E7-860C73F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EXPLAINABLE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BEE65-1BED-437F-AF11-35877F82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879AF-BF0A-4A53-9052-CF3E76D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529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PHONE-FIRST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C164C-434E-4098-A609-38A59FC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8592A-DB97-454E-A457-E2931A3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52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66A"/>
                </a:solidFill>
              </a:defRPr>
            </a:pPr>
            <a:r>
              <a:rPr sz="900" b="1">
                <a:solidFill>
                  <a:srgbClr val="16A66A"/>
                </a:solidFill>
              </a:rPr>
              <a:t>LOCAL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7EA99-FC27-4193-82B2-5744BEFD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C35"/>
                </a:solidFill>
              </a:defRPr>
            </a:pPr>
            <a:r>
              <a:rPr sz="1350" b="1">
                <a:solidFill>
                  <a:srgbClr val="071C35"/>
                </a:solidFill>
              </a:rPr>
              <a:t>TEAM ANKOR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B1ED7-4941-4028-B8AE-883F205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781050"/>
            <a:ext cx="4762500" cy="5191125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22CCE-D6D7-4D78-AD15-4B45C6C2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4E8"/>
                </a:solidFill>
              </a:defRPr>
            </a:pPr>
            <a:r>
              <a:rPr sz="1050" b="1">
                <a:solidFill>
                  <a:srgbClr val="56D4E8"/>
                </a:solidFill>
              </a:rPr>
              <a:t>VERIFICATION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BA13E-5ED6-47D7-9C1B-A370B959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09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Evidence becomes a testable claim—not a summary.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513E7-AC5B-4CFB-AC84-55556D6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47900"/>
            <a:ext cx="3952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C2644"/>
          </a:solidFill>
          <a:ln xmlns:a="http://schemas.openxmlformats.org/drawingml/2006/main" w="9525">
            <a:solidFill>
              <a:srgbClr val="2949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7E476-51F9-45D8-BFCF-57CCC29B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717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EFF"/>
                </a:solidFill>
              </a:defRPr>
            </a:pPr>
            <a:r>
              <a:rPr sz="1050" b="1">
                <a:solidFill>
                  <a:srgbClr val="DCEEFF"/>
                </a:solidFill>
              </a:rPr>
              <a:t>01  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FCDEC-CDB3-4071-A334-AD05BA7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Camera • screenshots • consented audio •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D1E87-D754-4451-AACD-F7717F8E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6D4E8"/>
                </a:solidFill>
              </a:defRPr>
            </a:pPr>
            <a:r>
              <a:rPr sz="1425" b="1">
                <a:solidFill>
                  <a:srgbClr val="56D4E8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48D77-73DB-4620-9A2D-1F02A0D1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3952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C4C"/>
          </a:solidFill>
          <a:ln xmlns:a="http://schemas.openxmlformats.org/drawingml/2006/main" w="9525">
            <a:solidFill>
              <a:srgbClr val="2949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5FFC1-7D16-4022-A7E9-FF2EC811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051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EFF"/>
                </a:solidFill>
              </a:defRPr>
            </a:pPr>
            <a:r>
              <a:rPr sz="1050" b="1">
                <a:solidFill>
                  <a:srgbClr val="DCEEFF"/>
                </a:solidFill>
              </a:rPr>
              <a:t>02  RECONCILE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EC3A9-DAF1-4F9E-AA62-67E91B4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528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Structured claims • evidence graph • source authority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8994B-F71A-4901-B983-4CE3484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95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6D4E8"/>
                </a:solidFill>
              </a:defRPr>
            </a:pPr>
            <a:r>
              <a:rPr sz="1425" b="1">
                <a:solidFill>
                  <a:srgbClr val="56D4E8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D5BB0-894E-495A-8A95-36143521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14800"/>
            <a:ext cx="3952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C2644"/>
          </a:solidFill>
          <a:ln xmlns:a="http://schemas.openxmlformats.org/drawingml/2006/main" w="9525">
            <a:solidFill>
              <a:srgbClr val="2949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5C4BD-47F8-4480-BD1A-1468080D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386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FF5EB"/>
                </a:solidFill>
              </a:defRPr>
            </a:pPr>
            <a:r>
              <a:rPr sz="1050" b="1">
                <a:solidFill>
                  <a:srgbClr val="DFF5EB"/>
                </a:solidFill>
              </a:rPr>
              <a:t>03  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E8B44-A6FE-4951-9D9B-103CFD06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8627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Constraint checks • true-cost math • traceable outcome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8ACCE-FA07-4D46-8AC4-09067C43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19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4E8"/>
                </a:solidFill>
              </a:defRPr>
            </a:pPr>
            <a:r>
              <a:rPr sz="1050" b="1">
                <a:solidFill>
                  <a:srgbClr val="56D4E8"/>
                </a:solidFill>
              </a:rPr>
              <a:t>OUTPUT  Promise Ledger + true payable cost + clarification card</a:t>
            </a:r>
          </a:p>
        </p:txBody>
      </p:sp>
    </p:spTree>
    <p:extLst>
      <p:ext uri="{BB962C8B-B14F-4D97-AF65-F5344CB8AC3E}">
        <p14:creationId xmlns:p14="http://schemas.microsoft.com/office/powerpoint/2010/main" val="525265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499FAF-5EC9-4300-ADC0-968CB99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C35"/>
                </a:solidFill>
              </a:defRPr>
            </a:pPr>
            <a:r>
              <a:rPr sz="975" b="1">
                <a:solidFill>
                  <a:srgbClr val="071C35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DC60F-C219-41AB-85AB-0C6E6F6D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F88"/>
                </a:solidFill>
              </a:defRPr>
            </a:pPr>
            <a:r>
              <a:rPr sz="975" b="1">
                <a:solidFill>
                  <a:srgbClr val="5A6F88"/>
                </a:solidFill>
              </a:rPr>
              <a:t>PROBLEM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7D802-8639-4E66-B5EC-5ADFC3C8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13198-87CC-4AC7-B8F9-9F7BF6A9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F88"/>
                </a:solidFill>
              </a:defRPr>
            </a:pPr>
            <a:r>
              <a:rPr sz="900" b="1">
                <a:solidFill>
                  <a:srgbClr val="5A6F8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8CD20-A642-488A-BAB4-EBA10379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THE TECHNICAL FAILURE IS STATE DIVERGENCE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032DE-3C24-4788-B001-D49CB15A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C35"/>
                </a:solidFill>
              </a:defRPr>
            </a:pPr>
            <a:r>
              <a:rPr sz="3225" b="1">
                <a:solidFill>
                  <a:srgbClr val="071C35"/>
                </a:solidFill>
              </a:rPr>
              <a:t>The promise and the contract evolve in separate, incompatible channels.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255D2-FEBB-46ED-A7AE-C9B7DAC0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F88"/>
                </a:solidFill>
              </a:defRPr>
            </a:pPr>
            <a:r>
              <a:rPr sz="1350" b="0">
                <a:solidFill>
                  <a:srgbClr val="5A6F88"/>
                </a:solidFill>
              </a:rPr>
              <a:t>DealTwin treats this as an evidence reconciliation problem—not as generic document summarization.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5FFC4-5918-408F-9C65-0E86F05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PRE-COMMITMENT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A5187-6E0F-465F-B484-4156056D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47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55254-29D0-4F38-8CDD-E2D9A665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BD1AE-51B5-4B06-846C-EBEB2F06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35"/>
                </a:solidFill>
              </a:defRPr>
            </a:pPr>
            <a:r>
              <a:rPr sz="1275" b="1">
                <a:solidFill>
                  <a:srgbClr val="071C35"/>
                </a:solidFill>
              </a:rPr>
              <a:t>Advertisement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67450-8CB1-4082-992A-1BDE45D7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₹50,000 • no-cost EMI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81AEC-180A-4609-9545-782FAA64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47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60D82-078E-452C-8AA1-C7B41F2D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37B6D-0FD4-41DB-9AE7-E429CCC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35"/>
                </a:solidFill>
              </a:defRPr>
            </a:pPr>
            <a:r>
              <a:rPr sz="1275" b="1">
                <a:solidFill>
                  <a:srgbClr val="071C35"/>
                </a:solidFill>
              </a:rPr>
              <a:t>Seller 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08BA2-B5F2-40D1-A938-D5D57A8D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Free insurance • 2-year warranty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43BB8-C9DC-4600-9299-AFEDF982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247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F4D8B-74F9-4DF7-B4BF-F4C16177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B45DE-3E58-49E3-BBCC-4CADE0E3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35"/>
                </a:solidFill>
              </a:defRPr>
            </a:pPr>
            <a:r>
              <a:rPr sz="1275" b="1">
                <a:solidFill>
                  <a:srgbClr val="071C35"/>
                </a:solidFill>
              </a:rPr>
              <a:t>Chat / screenshot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96BBF-F756-46EF-97D7-BBAC55A7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Offer validity • conditions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EAB2C-EFB3-473F-AD5E-FAC28E09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F2913-0C6C-4E67-A36D-65D81BF5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38500"/>
            <a:ext cx="28575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9D279-C45B-454E-99DA-74BC4C7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6D4E8"/>
                </a:solidFill>
              </a:defRPr>
            </a:pPr>
            <a:r>
              <a:rPr sz="1125" b="1">
                <a:solidFill>
                  <a:srgbClr val="56D4E8"/>
                </a:solidFill>
              </a:rPr>
              <a:t>NORMALIZATION GAP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C7483-CB66-4E12-9E13-933ED2B6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90975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Same concept, different wording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Missing units and conditions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Conflicting timestamps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Unequal source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3C8B5-0872-4582-8DED-B6BC336B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1524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C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035AD-6C62-422F-A942-CE6EC2EA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76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E465B"/>
                </a:solidFill>
              </a:defRPr>
            </a:pPr>
            <a:r>
              <a:rPr sz="900" b="1">
                <a:solidFill>
                  <a:srgbClr val="DE465B"/>
                </a:solidFill>
              </a:rPr>
              <a:t>NO SHARED SCHEMA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48A7E-DA4F-43C3-9EE8-44AA828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48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F84DA-414C-4D36-99AB-9E7FCE0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FINAL COMMITMENT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3ECA9D-6C79-4223-8B6F-79502DDE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71825"/>
            <a:ext cx="3619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E7EB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E20D1-F08B-47D6-85DF-ECCE0551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718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C5A984-1782-4418-8BAA-6E5E4B4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147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35"/>
                </a:solidFill>
              </a:defRPr>
            </a:pPr>
            <a:r>
              <a:rPr sz="1275" b="1">
                <a:solidFill>
                  <a:srgbClr val="071C35"/>
                </a:solidFill>
              </a:rPr>
              <a:t>Invoice + KFS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E8F473-201D-4ED9-B389-028A2BE2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99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₹999 fee • cash discount removed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625704-D720-46DF-8C78-9E3D9D5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62425"/>
            <a:ext cx="3619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AD2FA-C6BF-4A79-B1D9-26BA898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624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23E8C4-A845-4A2C-B4A2-169D60CE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053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35"/>
                </a:solidFill>
              </a:defRPr>
            </a:pPr>
            <a:r>
              <a:rPr sz="1275" b="1">
                <a:solidFill>
                  <a:srgbClr val="071C35"/>
                </a:solidFill>
              </a:rPr>
              <a:t>Warranty /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4F45A4-443B-486C-ACFD-C348D182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005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Coverage differs from the verbal claim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85F9F6-4E0F-44FD-9F89-A6569E0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53025"/>
            <a:ext cx="361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DC6A2E-8441-425D-9B7A-147CE8C1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863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F88"/>
                </a:solidFill>
              </a:defRPr>
            </a:pPr>
            <a:r>
              <a:rPr sz="900" b="1">
                <a:solidFill>
                  <a:srgbClr val="5A6F88"/>
                </a:solidFill>
              </a:rPr>
              <a:t>DEMO DELTA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F774BD-3400-48DC-89B8-3F48A3C4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482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E465B"/>
                </a:solidFill>
              </a:defRPr>
            </a:pPr>
            <a:r>
              <a:rPr sz="1500" b="1">
                <a:solidFill>
                  <a:srgbClr val="DE465B"/>
                </a:solidFill>
              </a:rPr>
              <a:t>₹2,148 above expected cost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CE1AEF-D323-4022-B85D-1862CC3C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Illustrative hackathon scenario</a:t>
            </a:r>
          </a:p>
        </p:txBody>
      </p:sp>
    </p:spTree>
    <p:extLst>
      <p:ext uri="{BB962C8B-B14F-4D97-AF65-F5344CB8AC3E}">
        <p14:creationId xmlns:p14="http://schemas.microsoft.com/office/powerpoint/2010/main" val="2118130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9D629F-2D2E-48B5-8A30-D8E18052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C35"/>
                </a:solidFill>
              </a:defRPr>
            </a:pPr>
            <a:r>
              <a:rPr sz="975" b="1">
                <a:solidFill>
                  <a:srgbClr val="071C35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6B2CE-6EAA-4102-93FE-5F685627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F88"/>
                </a:solidFill>
              </a:defRPr>
            </a:pPr>
            <a:r>
              <a:rPr sz="975" b="1">
                <a:solidFill>
                  <a:srgbClr val="5A6F88"/>
                </a:solidFill>
              </a:rPr>
              <a:t>END-TO-END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2B79B-74BF-46C8-8AD1-5508E6E7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3CA4A-7281-4B6C-838D-2D8554C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F88"/>
                </a:solidFill>
              </a:defRPr>
            </a:pPr>
            <a:r>
              <a:rPr sz="900" b="1">
                <a:solidFill>
                  <a:srgbClr val="5A6F8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D58D5-7996-44EA-B7AA-6277B302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EVERY OUTCOME REMAINS LINKED TO THE EVIDENCE THAT PRODUCED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E9BA7-FF81-4E4F-AB49-7BE321F6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C35"/>
                </a:solidFill>
              </a:defRPr>
            </a:pPr>
            <a:r>
              <a:rPr sz="3225" b="1">
                <a:solidFill>
                  <a:srgbClr val="071C35"/>
                </a:solidFill>
              </a:rPr>
              <a:t>Capture → extract → reconcile → verify → act, with human review at low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88E68-2646-4F73-890E-3A3502C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F88"/>
                </a:solidFill>
              </a:defRPr>
            </a:pPr>
            <a:r>
              <a:rPr sz="975" b="1">
                <a:solidFill>
                  <a:srgbClr val="5A6F88"/>
                </a:solidFill>
              </a:rPr>
              <a:t>USER /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2BA73-B2CE-4238-B100-94285608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909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D3C5B-326C-49CA-8BAB-C10077C1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ON-DEVICE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AAB52-2086-42F9-90EF-026372D8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909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CE86D-7E07-4E77-ACFE-EFD65EFE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F88"/>
                </a:solidFill>
              </a:defRPr>
            </a:pPr>
            <a:r>
              <a:rPr sz="975" b="1">
                <a:solidFill>
                  <a:srgbClr val="5A6F88"/>
                </a:solidFill>
              </a:rPr>
              <a:t>VERIFIABLE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EC471-FE0D-49F7-B06F-DF78631F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909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F0547-AD74-4B49-AE26-7DD04D3C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14432-E1E1-4E91-8593-D36FA4C0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76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13040-74A9-4D8F-A2E8-35FE6867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76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4351D-F4A2-4BCC-A357-891EFBA1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76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D1FEB-D95C-44A8-83FE-32A0F8C1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15049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AB667-A32A-43BF-8626-1016B80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E0039-AE9C-49D9-8D17-820C6F3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004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0F806-23C4-4B6A-8445-B687F354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14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CAPTURE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07997-D2DD-4438-A026-1146B56E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814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Camera, files, consented audio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19C1E-AAA3-4327-9407-391AF1E9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5049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C609A-09D3-4615-90C5-79905D82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D169D-2ADA-4E1C-8019-28CB9D74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48ED0-56D5-4BE0-9B77-31650939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14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EXTRACT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BAE07-C832-4EA7-9CEB-688C4F0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OCR + structured claim 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BE984-1325-4B35-8EC2-03952FF3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28950"/>
            <a:ext cx="15049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F9B38C-BAD4-4A1A-A22F-FE65D47F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3F6C0-6493-44EF-902C-D5A64814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203DA-F5B3-4F49-8A65-6A16106E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14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RECONCILE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7F0CD-E69B-47FE-BD9C-F54ABEE8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Candidate match + source authority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E5BE73-8302-456A-9BE5-C024B326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5049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FDCF5B-5172-43F1-8BC6-BF652FC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6866CD-CCFA-42AE-B1D7-862F20D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04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65BA98-A9FE-42B1-934E-8C6DB9B7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14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VERIFY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0CB609-9301-4A0D-9ED0-13807F3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814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Rules + deterministic cost engine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A9A650-2383-4463-B534-EC3D05AB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28950"/>
            <a:ext cx="15049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255916-633B-4CA1-9D40-5F0500B3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D13EC5-155A-44B6-BBD2-A9389B7A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004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48E1A8-1FBE-4068-B598-763DBBC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14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9ECB91-B3BC-4B9E-81BC-78F40CF8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814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Ledger + neutral clarification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56E7A7-CFAE-4F80-B047-5A71DED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3400"/>
            <a:ext cx="13525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AAD1B2-6D4A-43AA-AF0C-77D18CAD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005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BUNDLED OCR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3AD843-0F41-4BCE-B4DD-D3E4D9DE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15621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28A632-3F74-420B-813F-8B194A0E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LOCAL OPEN MODEL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A3130D-205B-40AB-AA0A-4486B74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1752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0812D3-A61A-496E-B422-5FA6688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EMBEDDING RETRIEVAL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CAA8BF-69FE-4357-8322-2AAF4F48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2506B1-472D-4624-977D-9BE891B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66A"/>
                </a:solidFill>
              </a:defRPr>
            </a:pPr>
            <a:r>
              <a:rPr sz="900" b="1">
                <a:solidFill>
                  <a:srgbClr val="16A66A"/>
                </a:solidFill>
              </a:rPr>
              <a:t>RULE ENGINE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A1AB51-3CDE-448B-916A-4682C65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43400"/>
            <a:ext cx="1657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1EE557-56F3-4D60-8563-9E6A8A53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005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4A326"/>
                </a:solidFill>
              </a:defRPr>
            </a:pPr>
            <a:r>
              <a:rPr sz="900" b="1">
                <a:solidFill>
                  <a:srgbClr val="E4A326"/>
                </a:solidFill>
              </a:rPr>
              <a:t>CONFIDENCE GATE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7F2C8A-EC15-4F24-8DDB-60FB1528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38700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A326"/>
                </a:solidFill>
              </a:defRPr>
            </a:pPr>
            <a:r>
              <a:rPr sz="1200" b="1">
                <a:solidFill>
                  <a:srgbClr val="E4A326"/>
                </a:solidFill>
              </a:rPr>
              <a:t>If confidence &lt; threshold → mark UNVERIFIABLE and request user confirmation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092969-77D3-406A-8F2D-74821792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53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66A"/>
                </a:solidFill>
              </a:defRPr>
            </a:pPr>
            <a:r>
              <a:rPr sz="1050" b="1">
                <a:solidFill>
                  <a:srgbClr val="16A66A"/>
                </a:solidFill>
              </a:rPr>
              <a:t>KEPT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FF5157-6F54-4594-9AF6-7428FE4D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5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E465B"/>
                </a:solidFill>
              </a:defRPr>
            </a:pPr>
            <a:r>
              <a:rPr sz="1050" b="1">
                <a:solidFill>
                  <a:srgbClr val="DE465B"/>
                </a:solidFill>
              </a:rPr>
              <a:t>CHANGED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3938D0-692E-4D48-B808-00E3805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E465B"/>
                </a:solidFill>
              </a:defRPr>
            </a:pPr>
            <a:r>
              <a:rPr sz="1050" b="1">
                <a:solidFill>
                  <a:srgbClr val="DE465B"/>
                </a:solidFill>
              </a:rPr>
              <a:t>MISSING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DAF64D-E783-4FE2-B3B1-02B351D1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53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4A326"/>
                </a:solidFill>
              </a:defRPr>
            </a:pPr>
            <a:r>
              <a:rPr sz="1050" b="1">
                <a:solidFill>
                  <a:srgbClr val="E4A326"/>
                </a:solidFill>
              </a:rPr>
              <a:t>CONTRADICTED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816E4B-9C5B-44E8-8A61-8FF64A2A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53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8"/>
                </a:solidFill>
              </a:defRPr>
            </a:pPr>
            <a:r>
              <a:rPr sz="1050" b="1">
                <a:solidFill>
                  <a:srgbClr val="5A6F88"/>
                </a:solidFill>
              </a:rPr>
              <a:t>UNVERIFIABLE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7FB098-9F0A-439F-901D-6ECA8F93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F88"/>
                </a:solidFill>
              </a:defRPr>
            </a:pPr>
            <a:r>
              <a:rPr sz="1050" b="1">
                <a:solidFill>
                  <a:srgbClr val="5A6F88"/>
                </a:solidFill>
              </a:rPr>
              <a:t>Consent boundary: audio is opt-in; no background recording.</a:t>
            </a:r>
          </a:p>
        </p:txBody>
      </p:sp>
    </p:spTree>
    <p:extLst>
      <p:ext uri="{BB962C8B-B14F-4D97-AF65-F5344CB8AC3E}">
        <p14:creationId xmlns:p14="http://schemas.microsoft.com/office/powerpoint/2010/main" val="1933671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81D798-711E-42D0-B468-3D2590FB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C35"/>
                </a:solidFill>
              </a:defRPr>
            </a:pPr>
            <a:r>
              <a:rPr sz="975" b="1">
                <a:solidFill>
                  <a:srgbClr val="071C35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0DF9E-565D-49FD-819C-4905BBA1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F88"/>
                </a:solidFill>
              </a:defRPr>
            </a:pPr>
            <a:r>
              <a:rPr sz="975" b="1">
                <a:solidFill>
                  <a:srgbClr val="5A6F88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78078-D566-4A9C-9C68-78B95B1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EE459-A52F-45F5-A160-3FAA36FE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F88"/>
                </a:solidFill>
              </a:defRPr>
            </a:pPr>
            <a:r>
              <a:rPr sz="900" b="1">
                <a:solidFill>
                  <a:srgbClr val="5A6F8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1B303-1C98-4674-9264-090C2360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THE PHONE CONTAINS THE TRUST BOUNDARY; THE CLOUD IS OPTIONAL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C5D7A-4435-42FD-9001-487F2AE8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C35"/>
                </a:solidFill>
              </a:defRPr>
            </a:pPr>
            <a:r>
              <a:rPr sz="3225" b="1">
                <a:solidFill>
                  <a:srgbClr val="071C35"/>
                </a:solidFill>
              </a:rPr>
              <a:t>A modular pipeline isolates probabilistic extraction from deterministic financial verification.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B8BFA-7B71-41FE-8D1C-27A3ED3A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10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9AF4E-E7CD-4B59-8E4D-9616151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0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CFCAC-D084-4937-A759-D594829E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810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515AF-EBF2-4FC5-91CE-259C3D81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0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5A0DE-2E37-41B4-B492-D02E5C20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INPUT ADAPTERS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C8B7C-24B8-4148-951E-1FA9064E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DF419-0616-445B-B5A4-8B66AC4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CameraX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B0072-97CD-47D0-AEBA-4FD81CF6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432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B0DBB-4F5E-4462-827C-3506F26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004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Screenshot share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E12F9-A55B-4C9E-9702-2495ED41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4F554-11B8-42FA-8B29-BF5FF699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04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PDF / 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6F4F5-0C84-4DC2-B86B-DBF2263B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432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33A0D-F54B-4624-B1E0-AA8805D3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004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Consented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03A3F-CCBD-4F5D-AED2-4631661F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620375" cy="18859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479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BC22B-6E19-479F-92C2-2C038BB1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79F2"/>
                </a:solidFill>
              </a:defRPr>
            </a:pPr>
            <a:r>
              <a:rPr sz="900" b="1">
                <a:solidFill>
                  <a:srgbClr val="2479F2"/>
                </a:solidFill>
              </a:rPr>
              <a:t>ON-DEVICE TRUST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FFD2B0-9159-4DEC-8C40-7E2D26EF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4FDCF-9834-4546-A59A-FD3B788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OCR + STT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9BAC5-C14A-46F0-A788-493A1CDE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Bundled OCR; offline speech adapter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12695-82E7-4381-8727-8D7708F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957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1CC1F-5454-431B-8C0B-ADD263CF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26720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Claim parser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68A71-4485-47AC-B72F-AAD6F5AE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9105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Schema-constrained 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4E1B0-7B4D-4FE2-A2A8-5F6D626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957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61B31-640A-40E3-A9C0-0A5D0E79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6720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Evidence graph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BCCBD1-4F87-434A-AAD4-BD88D5B9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9105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Embedding retrieval + source rank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18AD0-E716-4598-924F-B6575971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0957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400233-40AE-4368-8BC6-BEEC587A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6720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Verifier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539E53-B856-49E9-A1E9-28D93F5A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9105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Constraints + true-cost engine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1C5D8E-8D42-48F8-BB93-84B5BFB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95750"/>
            <a:ext cx="1162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BA2FF8-D0D6-401B-855F-E5C04FC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672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Vault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24A6F-DFC3-43CD-9A29-1057E612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91050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F88"/>
                </a:solidFill>
              </a:defRPr>
            </a:pPr>
            <a:r>
              <a:rPr sz="900" b="0">
                <a:solidFill>
                  <a:srgbClr val="5A6F88"/>
                </a:solidFill>
              </a:rPr>
              <a:t>Encrypted local vault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C0208A-0B02-4616-8D0E-6C8A654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77215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90546F-5DCE-419C-8523-17ABA59A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8293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6F88"/>
                </a:solidFill>
              </a:defRPr>
            </a:pPr>
            <a:r>
              <a:rPr sz="900" b="1">
                <a:solidFill>
                  <a:srgbClr val="5A6F88"/>
                </a:solidFill>
              </a:rPr>
              <a:t>OPTIONAL CLOUD FALLBACK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61A0A6-CE6E-4735-91C7-E3F45AAC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1505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Only explicit user action; raw evidence stays local by default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DFB97C-B641-446D-97D6-14011696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6E057B-DF1F-4B16-B74B-28842F20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C35"/>
                </a:solidFill>
              </a:defRPr>
            </a:pPr>
            <a:r>
              <a:rPr sz="900" b="1">
                <a:solidFill>
                  <a:srgbClr val="071C35"/>
                </a:solidFill>
              </a:rPr>
              <a:t>OFFICE KIT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DB8ACB-CBB2-44DA-B621-FA14BE87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293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F88"/>
                </a:solidFill>
              </a:defRPr>
            </a:pPr>
            <a:r>
              <a:rPr sz="1050" b="1">
                <a:solidFill>
                  <a:srgbClr val="5A6F88"/>
                </a:solidFill>
              </a:rPr>
              <a:t>screen mirror • shared clipboard • file transfer • remote input</a:t>
            </a:r>
          </a:p>
        </p:txBody>
      </p:sp>
    </p:spTree>
    <p:extLst>
      <p:ext uri="{BB962C8B-B14F-4D97-AF65-F5344CB8AC3E}">
        <p14:creationId xmlns:p14="http://schemas.microsoft.com/office/powerpoint/2010/main" val="1509421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198E6-38B7-4E92-9D19-FA927BF2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C35"/>
                </a:solidFill>
              </a:defRPr>
            </a:pPr>
            <a:r>
              <a:rPr sz="975" b="1">
                <a:solidFill>
                  <a:srgbClr val="071C35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98CBE-C76F-4434-A479-107FA46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F88"/>
                </a:solidFill>
              </a:defRPr>
            </a:pPr>
            <a:r>
              <a:rPr sz="975" b="1">
                <a:solidFill>
                  <a:srgbClr val="5A6F88"/>
                </a:solidFill>
              </a:rPr>
              <a:t>VERIFICATION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8A189-5977-4F00-B173-BE7F040E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617F8-B9DB-4671-BE4A-88BF0A9B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F88"/>
                </a:solidFill>
              </a:defRPr>
            </a:pPr>
            <a:r>
              <a:rPr sz="900" b="1">
                <a:solidFill>
                  <a:srgbClr val="5A6F8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5582C-30C6-45AD-A428-84D919AA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AI PROPOSES THE CLAIM; DETERMINISTIC LOGIC DECIDES THE MONEY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4CFB9-FB8D-4D73-A5F7-98BCD505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C35"/>
                </a:solidFill>
              </a:defRPr>
            </a:pPr>
            <a:r>
              <a:rPr sz="3225" b="1">
                <a:solidFill>
                  <a:srgbClr val="071C35"/>
                </a:solidFill>
              </a:rPr>
              <a:t>The core object is a typed claim with provenance, not an untraceable paragraph of generated 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A7A3F-5891-4F2F-9877-85F08387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957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7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E2C20-0949-4FF8-A86A-22BBCA05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4E8"/>
                </a:solidFill>
              </a:defRPr>
            </a:pPr>
            <a:r>
              <a:rPr sz="1050" b="1">
                <a:solidFill>
                  <a:srgbClr val="56D4E8"/>
                </a:solidFill>
              </a:rPr>
              <a:t>CLAIM 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923B8-CCC6-431E-BADD-0A16AF7B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35242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claim_id: c_017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concept: "processing_fee"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value: 999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currency: INR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condition: "EMI checkout"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source: invoice.pdf#p1:b7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timestamp: 2026-08-24T...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authority: CONTRACTUAL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confidence: 0.94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06695-5A1C-40AC-9DAC-76E9687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CD1B2-A343-450E-8A2E-F303B607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2686050" cy="2781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88E08-8DBA-433C-9EA7-9797ABA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79F2"/>
                </a:solidFill>
              </a:defRPr>
            </a:pPr>
            <a:r>
              <a:rPr sz="1050" b="1">
                <a:solidFill>
                  <a:srgbClr val="2479F2"/>
                </a:solidFill>
              </a:rPr>
              <a:t>MATCH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06307-1874-4607-82D5-EA527B90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19500"/>
            <a:ext cx="219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A45"/>
                </a:solidFill>
              </a:defRPr>
            </a:pPr>
            <a:r>
              <a:rPr sz="1200" b="0">
                <a:solidFill>
                  <a:srgbClr val="132A45"/>
                </a:solidFill>
              </a:rPr>
              <a:t>0.40  semantic similarity</a:t>
            </a:r>
          </a:p>
          <a:p xmlns:a="http://schemas.openxmlformats.org/drawingml/2006/main">
            <a:pPr algn="l">
              <a:defRPr sz="1200" b="0">
                <a:solidFill>
                  <a:srgbClr val="132A45"/>
                </a:solidFill>
              </a:defRPr>
            </a:pPr>
            <a:r>
              <a:rPr sz="1200" b="0">
                <a:solidFill>
                  <a:srgbClr val="132A45"/>
                </a:solidFill>
              </a:rPr>
              <a:t>0.25  unit / value consistency</a:t>
            </a:r>
          </a:p>
          <a:p xmlns:a="http://schemas.openxmlformats.org/drawingml/2006/main">
            <a:pPr algn="l">
              <a:defRPr sz="1200" b="0">
                <a:solidFill>
                  <a:srgbClr val="132A45"/>
                </a:solidFill>
              </a:defRPr>
            </a:pPr>
            <a:r>
              <a:rPr sz="1200" b="0">
                <a:solidFill>
                  <a:srgbClr val="132A45"/>
                </a:solidFill>
              </a:rPr>
              <a:t>0.20  condition overlap</a:t>
            </a:r>
          </a:p>
          <a:p xmlns:a="http://schemas.openxmlformats.org/drawingml/2006/main">
            <a:pPr algn="l">
              <a:defRPr sz="1200" b="0">
                <a:solidFill>
                  <a:srgbClr val="132A45"/>
                </a:solidFill>
              </a:defRPr>
            </a:pPr>
            <a:r>
              <a:rPr sz="1200" b="0">
                <a:solidFill>
                  <a:srgbClr val="132A45"/>
                </a:solidFill>
              </a:rPr>
              <a:t>0.15  temporal compatibility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7B0D3-2F0B-4218-AA96-7758F79C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ECEF7-ED12-43C7-8874-EEBCA339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8"/>
                </a:solidFill>
              </a:defRPr>
            </a:pPr>
            <a:r>
              <a:rPr sz="1050" b="1">
                <a:solidFill>
                  <a:srgbClr val="5A6F88"/>
                </a:solidFill>
              </a:rPr>
              <a:t>Candidate retrieval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099D0-A66F-49CA-A550-52BC9F67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14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E465B"/>
                </a:solidFill>
              </a:defRPr>
            </a:pPr>
            <a:r>
              <a:rPr sz="1050" b="1">
                <a:solidFill>
                  <a:srgbClr val="DE465B"/>
                </a:solidFill>
              </a:rPr>
              <a:t>Never the final verdict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C535B-4036-495F-86FE-23EE3686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9F2"/>
                </a:solidFill>
              </a:defRPr>
            </a:pPr>
            <a:r>
              <a:rPr sz="1875" b="1">
                <a:solidFill>
                  <a:srgbClr val="2479F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A9B2C-DBA4-4FDD-A834-89403240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71800"/>
            <a:ext cx="2495550" cy="278130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F0045-F0E1-4F8F-8216-090DFDF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6D4E8"/>
                </a:solidFill>
              </a:defRPr>
            </a:pPr>
            <a:r>
              <a:rPr sz="1050" b="1">
                <a:solidFill>
                  <a:srgbClr val="56D4E8"/>
                </a:solidFill>
              </a:rPr>
              <a:t>CONSTRAINT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5A973-E94C-4B23-A1EA-4504D79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019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Fee promised = 0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Fee signed = 999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Cash discount lost = 1,149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30A6B-5A61-4FE6-922D-EE6BB02F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0D9B3-E0B7-4437-9E22-00AE6ED0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24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EFF"/>
                </a:solidFill>
              </a:defRPr>
            </a:pPr>
            <a:r>
              <a:rPr sz="975" b="1">
                <a:solidFill>
                  <a:srgbClr val="DCEEFF"/>
                </a:solidFill>
              </a:rPr>
              <a:t>TRUE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CC7A3-6078-42CE-BCF8-873BCB89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₹50,000 + ₹999 + ₹1,149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A54CC-16A9-454E-AD71-2ECE66BC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91150"/>
            <a:ext cx="2019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C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F74FA-93AF-498B-868D-A24E9B6D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483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E465B"/>
                </a:solidFill>
              </a:defRPr>
            </a:pPr>
            <a:r>
              <a:rPr sz="900" b="1">
                <a:solidFill>
                  <a:srgbClr val="DE465B"/>
                </a:solidFill>
              </a:rPr>
              <a:t>CHANGED  •  +₹2,148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1F081-C466-4512-932F-1978FB1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F88"/>
                </a:solidFill>
              </a:defRPr>
            </a:pPr>
            <a:r>
              <a:rPr sz="1125" b="1">
                <a:solidFill>
                  <a:srgbClr val="5A6F88"/>
                </a:solidFill>
              </a:rPr>
              <a:t>Every status stores supporting and opposing evidence IDs.</a:t>
            </a:r>
          </a:p>
        </p:txBody>
      </p:sp>
    </p:spTree>
    <p:extLst>
      <p:ext uri="{BB962C8B-B14F-4D97-AF65-F5344CB8AC3E}">
        <p14:creationId xmlns:p14="http://schemas.microsoft.com/office/powerpoint/2010/main" val="1330845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E2E0B1-C045-49A9-9F3F-B9F1F8F5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C35"/>
                </a:solidFill>
              </a:defRPr>
            </a:pPr>
            <a:r>
              <a:rPr sz="975" b="1">
                <a:solidFill>
                  <a:srgbClr val="071C35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D8E25-AAD7-49B3-8F8E-4478EC86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F88"/>
                </a:solidFill>
              </a:defRPr>
            </a:pPr>
            <a:r>
              <a:rPr sz="975" b="1">
                <a:solidFill>
                  <a:srgbClr val="5A6F88"/>
                </a:solidFill>
              </a:rPr>
              <a:t>IMPLEMENTATION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AEC21-351B-413D-ABE5-BCFF668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6CD42-2825-4014-8723-0CD5F0C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F88"/>
                </a:solidFill>
              </a:defRPr>
            </a:pPr>
            <a:r>
              <a:rPr sz="900" b="1">
                <a:solidFill>
                  <a:srgbClr val="5A6F8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961A7-5841-4BD5-8D31-E1C5312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THE MVP IS SCOPED FOR A 30-HOUR BUILD WITHOUT FAKING THE HARD PARTS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12F43-61FA-45F5-B10E-5BC4F3A0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C35"/>
                </a:solidFill>
              </a:defRPr>
            </a:pPr>
            <a:r>
              <a:rPr sz="3225" b="1">
                <a:solidFill>
                  <a:srgbClr val="071C35"/>
                </a:solidFill>
              </a:rPr>
              <a:t>A narrow electronics/EMI journey exercises every architectural component end to 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E634E-1EB5-4A77-85C9-98AFD800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ANDROID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F5D8C-85EB-431D-A757-ABB86666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C9A7F-E185-4CE3-A2E5-C1295B9F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5FC74-5DFC-4FC8-A769-BB36AF21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UI +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90342-8017-406D-B50D-3A7D48BB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280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Kotlin • Jetpack Compose • CameraX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B8584-2C38-4E4E-AB11-AF4F70CB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565C4-39DE-4E73-83C9-DAFA565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DC510-5720-4314-9C5B-FE354B3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OCR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C8D95-FC9A-4D36-B25C-8D485C79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280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Bundled ML Kit Text Recognition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2C512-77D7-4721-866D-BF4D33F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76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CB7B8-171D-476E-BAFE-4A32C2B2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AAB86-F5FF-41AE-A3E8-9AA49EB5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481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Local inference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70E3A-8F5C-4894-A6CF-6A86F3B2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57700"/>
            <a:ext cx="280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Quantized open model • ONNX Runtime adapter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038E1-47E1-4DC2-9271-4362A178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BF5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9471A-4074-4F9D-83BC-AADC4CD7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4CABC-A735-40DA-A51E-0912E4DD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EB53E-C50D-4FC5-9635-449C7786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280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Kotlin rules • BigDecimal cost engine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DD222-C96E-412C-87F1-07955963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476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724A4-677C-4D25-9B7E-E1C93DBF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6B110-0026-4456-8B32-C5ACD39F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C35"/>
                </a:solidFill>
              </a:defRPr>
            </a:pPr>
            <a:r>
              <a:rPr sz="1200" b="1">
                <a:solidFill>
                  <a:srgbClr val="071C35"/>
                </a:solidFill>
              </a:rPr>
              <a:t>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6AC4E-AA56-4A06-B46D-102714E6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38800"/>
            <a:ext cx="280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F88"/>
                </a:solidFill>
              </a:defRPr>
            </a:pPr>
            <a:r>
              <a:rPr sz="975" b="0">
                <a:solidFill>
                  <a:srgbClr val="5A6F88"/>
                </a:solidFill>
              </a:rPr>
              <a:t>Room / SQLCipher • evidence hashes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8ECD0-22BA-48FA-A8FD-5DF815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HACKATHON 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D7DCF0-1E2E-45B6-A4E6-B4635563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8135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E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BED8D5-AACA-4AA8-A268-76437C8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55%  RED LIGHT  •  PHONE-FIRST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AD3348-B59E-4D74-BBF2-11C5D4DB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UI, capture, OCR, device inference, offline 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15B9F4-3CAC-47F5-870D-C1CD9794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005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E5EF39-3535-4880-B4C9-4473B837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814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45%  GREEN LIGHT  •  BOTH DEVICES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A8E1E2-DF89-460B-A643-BD98A1CE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Model packaging, integration, profiling, demo hardening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3AE6A4-597D-4D3C-842B-182004EF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76800"/>
            <a:ext cx="5334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40ECAE-A6DB-4953-88B4-5AA6E82B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C35"/>
                </a:solidFill>
              </a:defRPr>
            </a:pPr>
            <a:r>
              <a:rPr sz="1125" b="1">
                <a:solidFill>
                  <a:srgbClr val="071C35"/>
                </a:solidFill>
              </a:rPr>
              <a:t>OFFICE KIT  •  10% OF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4B6480-BFE8-4886-B738-0A50A4A5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F88"/>
                </a:solidFill>
              </a:defRPr>
            </a:pPr>
            <a:r>
              <a:rPr sz="1050" b="0">
                <a:solidFill>
                  <a:srgbClr val="5A6F88"/>
                </a:solidFill>
              </a:rPr>
              <a:t>Mirror the app • move test documents • paste logs • remote input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7FF4BD-56C5-46CC-8BC7-A52E7000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531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F88"/>
                </a:solidFill>
              </a:defRPr>
            </a:pPr>
            <a:r>
              <a:rPr sz="1050" b="1">
                <a:solidFill>
                  <a:srgbClr val="5A6F88"/>
                </a:solidFill>
              </a:rPr>
              <a:t>Fallback policy: if NPU integration is unavailable, preserve the same runtime interface and benchmark NNAPI/CPU—functionality never depends on one accelerator.</a:t>
            </a:r>
          </a:p>
        </p:txBody>
      </p:sp>
    </p:spTree>
    <p:extLst>
      <p:ext uri="{BB962C8B-B14F-4D97-AF65-F5344CB8AC3E}">
        <p14:creationId xmlns:p14="http://schemas.microsoft.com/office/powerpoint/2010/main" val="659807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A2B5BA-6B1A-4E9C-8DEC-9BF876F7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C35"/>
                </a:solidFill>
              </a:defRPr>
            </a:pPr>
            <a:r>
              <a:rPr sz="975" b="1">
                <a:solidFill>
                  <a:srgbClr val="071C35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233A3-B421-4A18-A393-A970701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F88"/>
                </a:solidFill>
              </a:defRPr>
            </a:pPr>
            <a:r>
              <a:rPr sz="975" b="1">
                <a:solidFill>
                  <a:srgbClr val="5A6F88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1614F-5080-4C0A-9A31-314B9B7C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2F93E-2A62-4649-A630-5F37575A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F88"/>
                </a:solidFill>
              </a:defRPr>
            </a:pPr>
            <a:r>
              <a:rPr sz="900" b="1">
                <a:solidFill>
                  <a:srgbClr val="5A6F8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D249C-038B-4678-9F70-79B190C4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DEALTWIN IS TECHNICALLY CREDIBLE, DEMONSTRABLE AND BUILT TO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D58D2-1CEB-4261-9863-7CAF3016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C35"/>
                </a:solidFill>
              </a:defRPr>
            </a:pPr>
            <a:r>
              <a:rPr sz="3225" b="1">
                <a:solidFill>
                  <a:srgbClr val="071C35"/>
                </a:solidFill>
              </a:rPr>
              <a:t>Selection should depend on whether the prototype proves traceable reconciliation—not on the number of screens.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1C868-4050-4174-82EA-E3168B87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LIVE SELECTION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B74C1-7F52-43B5-B4DB-C563E8FB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95FB9-94DE-414A-A55A-12B63CDF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C9AEF-1EA9-40F7-BA6E-38F609AA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A45"/>
                </a:solidFill>
              </a:defRPr>
            </a:pPr>
            <a:r>
              <a:rPr sz="1200" b="0">
                <a:solidFill>
                  <a:srgbClr val="132A45"/>
                </a:solidFill>
              </a:rPr>
              <a:t>Capture no-cost EMI advertisement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E52AB-38FB-4384-A54F-E3D2759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5838D-E6C4-4C16-B3C2-80F0610D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1EAC8-A949-4BDF-B8B2-80E1AC70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A45"/>
                </a:solidFill>
              </a:defRPr>
            </a:pPr>
            <a:r>
              <a:rPr sz="1200" b="0">
                <a:solidFill>
                  <a:srgbClr val="132A45"/>
                </a:solidFill>
              </a:rPr>
              <a:t>Scan invoice + KFS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90156-E252-48E8-858F-AA501804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C0E29-EC3A-4D68-87E1-169CDFD0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3F954-D9F4-4C87-9270-29F4F2F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A45"/>
                </a:solidFill>
              </a:defRPr>
            </a:pPr>
            <a:r>
              <a:rPr sz="1200" b="0">
                <a:solidFill>
                  <a:srgbClr val="132A45"/>
                </a:solidFill>
              </a:rPr>
              <a:t>Generate structured Promise Ledger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C7A04-D51D-4D63-BEAA-EBB6C0D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E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FD895-BC59-4FEB-8B48-D01AEFE2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FB84B-455E-4621-BBC2-C974CC84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E465B"/>
                </a:solidFill>
              </a:defRPr>
            </a:pPr>
            <a:r>
              <a:rPr sz="1200" b="1">
                <a:solidFill>
                  <a:srgbClr val="DE465B"/>
                </a:solidFill>
              </a:rPr>
              <a:t>Reveal ₹2,148 delta with 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0C7D7-94AE-41C1-A4B5-0BB94EE3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97AD9-5D81-48BA-A5C7-BE98708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352DF-0641-4E12-B17A-614A9861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A45"/>
                </a:solidFill>
              </a:defRPr>
            </a:pPr>
            <a:r>
              <a:rPr sz="1200" b="0">
                <a:solidFill>
                  <a:srgbClr val="132A45"/>
                </a:solidFill>
              </a:rPr>
              <a:t>Create neutral seller clarification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92E6B-CB72-4107-8D4B-3D3FA59D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76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9F2"/>
                </a:solidFill>
              </a:defRPr>
            </a:pPr>
            <a:r>
              <a:rPr sz="975" b="1">
                <a:solidFill>
                  <a:srgbClr val="2479F2"/>
                </a:solidFill>
              </a:rPr>
              <a:t>PROTOTYPE ACCEPTANCE TARGETS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73F47-D168-41A1-AF9D-9BF9B095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13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C35"/>
                </a:solidFill>
              </a:defRPr>
            </a:pPr>
            <a:r>
              <a:rPr sz="1875" b="1">
                <a:solidFill>
                  <a:srgbClr val="071C35"/>
                </a:solidFill>
              </a:rPr>
              <a:t>100%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176BE-5146-42C9-AF7F-97272F5F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F88"/>
                </a:solidFill>
              </a:defRPr>
            </a:pPr>
            <a:r>
              <a:rPr sz="1125" b="0">
                <a:solidFill>
                  <a:srgbClr val="5A6F88"/>
                </a:solidFill>
              </a:rPr>
              <a:t>ledger rows link to source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1550E-81DA-4A13-B9E3-46A5EB73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814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47C0D-DF8F-4DEF-8202-A06BB83D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338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C35"/>
                </a:solidFill>
              </a:defRPr>
            </a:pPr>
            <a:r>
              <a:rPr sz="1875" b="1">
                <a:solidFill>
                  <a:srgbClr val="071C35"/>
                </a:solidFill>
              </a:rPr>
              <a:t>100%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16217D-55DD-4972-96C0-1FA1E7C1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719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F88"/>
                </a:solidFill>
              </a:defRPr>
            </a:pPr>
            <a:r>
              <a:rPr sz="1125" b="0">
                <a:solidFill>
                  <a:srgbClr val="5A6F88"/>
                </a:solidFill>
              </a:rPr>
              <a:t>scripted cost cases use deterministic math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5AD7B-BF7F-4B96-A677-BFA6D341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338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85AA58-1DF5-499E-AC9D-5CF098A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862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C35"/>
                </a:solidFill>
              </a:defRPr>
            </a:pPr>
            <a:r>
              <a:rPr sz="1875" b="1">
                <a:solidFill>
                  <a:srgbClr val="071C35"/>
                </a:solidFill>
              </a:rPr>
              <a:t>≤ 4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27324D-B4BE-4231-BB96-ACF02739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F88"/>
                </a:solidFill>
              </a:defRPr>
            </a:pPr>
            <a:r>
              <a:rPr sz="1125" b="0">
                <a:solidFill>
                  <a:srgbClr val="5A6F88"/>
                </a:solidFill>
              </a:rPr>
              <a:t>reconciliation target on loaner 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26B123-FA69-4C40-8403-F6B03E7D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863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55D928-E98F-43EB-846A-8F2300E1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38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A66A"/>
                </a:solidFill>
              </a:defRPr>
            </a:pPr>
            <a:r>
              <a:rPr sz="1875" b="1">
                <a:solidFill>
                  <a:srgbClr val="16A66A"/>
                </a:solidFill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84C68C-69E2-4BFC-B5DB-784DBFBE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768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F88"/>
                </a:solidFill>
              </a:defRPr>
            </a:pPr>
            <a:r>
              <a:rPr sz="1125" b="0">
                <a:solidFill>
                  <a:srgbClr val="5A6F88"/>
                </a:solidFill>
              </a:rPr>
              <a:t>raw documents uploaded by default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64AF7F-7431-4FD4-99B7-84F41258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387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32E38E-9DC4-4953-A56C-CCCC911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76550"/>
            <a:ext cx="1981200" cy="25336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A28A6A-9471-41CF-AEBF-9AB5A33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6D4E8"/>
                </a:solidFill>
              </a:defRPr>
            </a:pPr>
            <a:r>
              <a:rPr sz="1050" b="1">
                <a:solidFill>
                  <a:srgbClr val="56D4E8"/>
                </a:solidFill>
              </a:rPr>
              <a:t>SCALE 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FCC0F0-03B2-416B-B428-311BC7FA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24250"/>
            <a:ext cx="152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Electronics EMI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Insurance + lending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Telecom + travel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Consumer-contract SDK / 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CFE1AD-83C7-4926-9A2B-6ADABF4F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29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245EBD-DE84-457A-8886-3F225EF4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Companies preserve what customers signed. DealTwin preserves what they were promised—and verifies the difference.</a:t>
            </a:r>
          </a:p>
        </p:txBody>
      </p:sp>
    </p:spTree>
    <p:extLst>
      <p:ext uri="{BB962C8B-B14F-4D97-AF65-F5344CB8AC3E}">
        <p14:creationId xmlns:p14="http://schemas.microsoft.com/office/powerpoint/2010/main" val="2049129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5A055-9FF3-47F4-BE5D-079C574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D4E8"/>
                </a:solidFill>
              </a:defRPr>
            </a:pPr>
            <a:r>
              <a:rPr sz="1050" b="1">
                <a:solidFill>
                  <a:srgbClr val="56D4E8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44761-3358-4475-A50E-327D2570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773FD-79B0-42C2-8191-E4022428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52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CEEFF"/>
                </a:solidFill>
              </a:defRPr>
            </a:pPr>
            <a:r>
              <a:rPr sz="2400" b="1">
                <a:solidFill>
                  <a:srgbClr val="DCEEFF"/>
                </a:solidFill>
              </a:rPr>
              <a:t>Remember the promise.</a:t>
            </a:r>
          </a:p>
          <a:p xmlns:a="http://schemas.openxmlformats.org/drawingml/2006/main">
            <a:pPr algn="l">
              <a:defRPr sz="2400" b="1">
                <a:solidFill>
                  <a:srgbClr val="DCEEFF"/>
                </a:solidFill>
              </a:defRPr>
            </a:pPr>
            <a:r>
              <a:rPr sz="2400" b="1">
                <a:solidFill>
                  <a:srgbClr val="DCEEFF"/>
                </a:solidFill>
              </a:rPr>
              <a:t>Verify the deal.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81752-132B-4E9A-8885-B9DC6A2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714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7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BE51-3B9B-489C-9839-FE24A7C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QUESTIONS  •  ARCHITECTURE  •  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E984D-653A-438A-B6D9-7C93A4AD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DealTwin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F1353-B1C8-4B38-9431-4ACBC263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6D4E8"/>
                </a:solidFill>
              </a:defRPr>
            </a:pPr>
            <a:r>
              <a:rPr sz="1050" b="1">
                <a:solidFill>
                  <a:srgbClr val="56D4E8"/>
                </a:solidFill>
              </a:rPr>
              <a:t>THE PRODUCT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94521-3C95-4F9F-A517-970ADA6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149EC-15CF-4841-B9CD-A3145A65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049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79F2"/>
                </a:solidFill>
              </a:defRPr>
            </a:pPr>
            <a:r>
              <a:rPr sz="1050" b="1">
                <a:solidFill>
                  <a:srgbClr val="2479F2"/>
                </a:solidFill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C3D98-6AB7-4789-8B41-2980FC2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049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C35"/>
                </a:solidFill>
              </a:defRPr>
            </a:pPr>
            <a:r>
              <a:rPr sz="1350" b="1">
                <a:solidFill>
                  <a:srgbClr val="071C35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AD9F2-CA8D-40D8-B0FA-740D0F43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28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6D4E8"/>
                </a:solidFill>
              </a:defRPr>
            </a:pPr>
            <a:r>
              <a:rPr sz="1500" b="1">
                <a:solidFill>
                  <a:srgbClr val="56D4E8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7E3D2-52A2-42AE-8FD6-D376B6BA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5C05E-8606-4326-86F5-02002F9D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384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79F2"/>
                </a:solidFill>
              </a:defRPr>
            </a:pPr>
            <a:r>
              <a:rPr sz="1050" b="1">
                <a:solidFill>
                  <a:srgbClr val="2479F2"/>
                </a:solidFill>
              </a:rPr>
              <a:t>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7B643-1946-4437-AB88-9B6966F4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384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C35"/>
                </a:solidFill>
              </a:defRPr>
            </a:pPr>
            <a:r>
              <a:rPr sz="1350" b="1">
                <a:solidFill>
                  <a:srgbClr val="071C35"/>
                </a:solidFill>
              </a:rPr>
              <a:t>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5279A-12DF-44CD-8DB5-8CD0EBB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62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6D4E8"/>
                </a:solidFill>
              </a:defRPr>
            </a:pPr>
            <a:r>
              <a:rPr sz="1500" b="1">
                <a:solidFill>
                  <a:srgbClr val="56D4E8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640C6-AD4F-4FDB-B58D-623B5BF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F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C77AA-C76F-4DAF-94CC-02C4D0AA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66A"/>
                </a:solidFill>
              </a:defRPr>
            </a:pPr>
            <a:r>
              <a:rPr sz="1050" b="1">
                <a:solidFill>
                  <a:srgbClr val="16A66A"/>
                </a:solidFill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50F57-2CD8-4C65-A9BF-B8A32C30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C35"/>
                </a:solidFill>
              </a:defRPr>
            </a:pPr>
            <a:r>
              <a:rPr sz="1350" b="1">
                <a:solidFill>
                  <a:srgbClr val="071C35"/>
                </a:solidFill>
              </a:rPr>
              <a:t>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0B8D8-2694-4DB5-8430-5194D362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9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6D4E8"/>
                </a:solidFill>
              </a:defRPr>
            </a:pPr>
            <a:r>
              <a:rPr sz="1500" b="1">
                <a:solidFill>
                  <a:srgbClr val="56D4E8"/>
                </a:solidFill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A2ACA-4618-404E-8363-C8A29CC3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E44B8-F38A-402B-8489-568ACAF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053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79F2"/>
                </a:solidFill>
              </a:defRPr>
            </a:pPr>
            <a:r>
              <a:rPr sz="1050" b="1">
                <a:solidFill>
                  <a:srgbClr val="2479F2"/>
                </a:solidFill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57621-1210-436F-A730-D7A0A8FC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053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C35"/>
                </a:solidFill>
              </a:defRPr>
            </a:pPr>
            <a:r>
              <a:rPr sz="1350" b="1">
                <a:solidFill>
                  <a:srgbClr val="071C35"/>
                </a:solidFill>
              </a:rPr>
              <a:t>Clarification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85341-BCB4-4DF7-BF89-87822508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EFF"/>
                </a:solidFill>
              </a:defRPr>
            </a:pPr>
            <a:r>
              <a:rPr sz="900" b="1">
                <a:solidFill>
                  <a:srgbClr val="DCEE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898441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2026-08-24T16:50:49.2670000Z</dcterms:created>
  <dcterms:modified xsi:type="dcterms:W3CDTF">2026-08-24T16:50:49.2670000Z</dcterms:modified>
</coreProperties>
</file>