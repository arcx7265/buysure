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4ae7c2ad4745e1" /><Relationship Type="http://schemas.openxmlformats.org/officeDocument/2006/relationships/extended-properties" Target="/docProps/app.xml" Id="Rc8a4c3f8619d41dc" /><Relationship Type="http://schemas.openxmlformats.org/officeDocument/2006/relationships/officeDocument" Target="/ppt/presentation.xml" Id="R56cab1986b1f4a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05959dc7774622"/>
  </p:sldMasterIdLst>
  <p:notesMasterIdLst>
    <p:notesMasterId xmlns:r="http://schemas.openxmlformats.org/officeDocument/2006/relationships" r:id="R2b72d68ad0794751"/>
  </p:notesMasterIdLst>
  <p:sldIdLst>
    <p:sldId xmlns:r="http://schemas.openxmlformats.org/officeDocument/2006/relationships" id="256" r:id="R003a5d4a7be5449d"/>
    <p:sldId xmlns:r="http://schemas.openxmlformats.org/officeDocument/2006/relationships" id="257" r:id="Rd112c824ed594cdd"/>
    <p:sldId xmlns:r="http://schemas.openxmlformats.org/officeDocument/2006/relationships" id="258" r:id="Rcd75b1e461d54504"/>
    <p:sldId xmlns:r="http://schemas.openxmlformats.org/officeDocument/2006/relationships" id="259" r:id="Rf34e1787fd9f47f8"/>
    <p:sldId xmlns:r="http://schemas.openxmlformats.org/officeDocument/2006/relationships" id="260" r:id="Rc97e759e0d914e64"/>
    <p:sldId xmlns:r="http://schemas.openxmlformats.org/officeDocument/2006/relationships" id="261" r:id="Rc288859dbee64776"/>
    <p:sldId xmlns:r="http://schemas.openxmlformats.org/officeDocument/2006/relationships" id="262" r:id="Rdb657dc4bc3040a8"/>
    <p:sldId xmlns:r="http://schemas.openxmlformats.org/officeDocument/2006/relationships" id="263" r:id="Rce729fab2e7f4c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d64718e89a4799" /><Relationship Type="http://schemas.openxmlformats.org/officeDocument/2006/relationships/slideMaster" Target="/ppt/slideMasters/slideMaster1.xml" Id="Re005959dc7774622" /><Relationship Type="http://schemas.openxmlformats.org/officeDocument/2006/relationships/notesMaster" Target="/ppt/notesMasters/notesMaster1.xml" Id="R2b72d68ad0794751" /><Relationship Type="http://schemas.openxmlformats.org/officeDocument/2006/relationships/presProps" Target="/ppt/presProps.xml" Id="R42cd54e39f9141f6" /><Relationship Type="http://schemas.openxmlformats.org/officeDocument/2006/relationships/tableStyles" Target="/ppt/tableStyles.xml" Id="Rce38616fe3f24cb6" /><Relationship Type="http://schemas.openxmlformats.org/officeDocument/2006/relationships/slide" Target="/ppt/slides/slide1.xml" Id="R003a5d4a7be5449d" /><Relationship Type="http://schemas.openxmlformats.org/officeDocument/2006/relationships/slide" Target="/ppt/slides/slide2.xml" Id="Rd112c824ed594cdd" /><Relationship Type="http://schemas.openxmlformats.org/officeDocument/2006/relationships/slide" Target="/ppt/slides/slide3.xml" Id="Rcd75b1e461d54504" /><Relationship Type="http://schemas.openxmlformats.org/officeDocument/2006/relationships/slide" Target="/ppt/slides/slide4.xml" Id="Rf34e1787fd9f47f8" /><Relationship Type="http://schemas.openxmlformats.org/officeDocument/2006/relationships/slide" Target="/ppt/slides/slide5.xml" Id="Rc97e759e0d914e64" /><Relationship Type="http://schemas.openxmlformats.org/officeDocument/2006/relationships/slide" Target="/ppt/slides/slide6.xml" Id="Rc288859dbee64776" /><Relationship Type="http://schemas.openxmlformats.org/officeDocument/2006/relationships/slide" Target="/ppt/slides/slide7.xml" Id="Rdb657dc4bc3040a8" /><Relationship Type="http://schemas.openxmlformats.org/officeDocument/2006/relationships/slide" Target="/ppt/slides/slide8.xml" Id="Rce729fab2e7f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56405967a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18551daa54985" /><Relationship Type="http://schemas.openxmlformats.org/officeDocument/2006/relationships/notesMaster" Target="/ppt/notesMasters/notesMaster1.xml" Id="R11a4e7f16e0540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03a615a4ba4d89" /><Relationship Type="http://schemas.openxmlformats.org/officeDocument/2006/relationships/notesMaster" Target="/ppt/notesMasters/notesMaster1.xml" Id="R5be41f01778643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dea1d77094aac" /><Relationship Type="http://schemas.openxmlformats.org/officeDocument/2006/relationships/notesMaster" Target="/ppt/notesMasters/notesMaster1.xml" Id="R31b99dc346894c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89a6a5fef74d83" /><Relationship Type="http://schemas.openxmlformats.org/officeDocument/2006/relationships/notesMaster" Target="/ppt/notesMasters/notesMaster1.xml" Id="R7ea6d0cf048744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4c1a577d74de9" /><Relationship Type="http://schemas.openxmlformats.org/officeDocument/2006/relationships/notesMaster" Target="/ppt/notesMasters/notesMaster1.xml" Id="R065daa11a23841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a83d9372fb4715" /><Relationship Type="http://schemas.openxmlformats.org/officeDocument/2006/relationships/notesMaster" Target="/ppt/notesMasters/notesMaster1.xml" Id="R47623dd56753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bc9f2df7d41bb" /><Relationship Type="http://schemas.openxmlformats.org/officeDocument/2006/relationships/notesMaster" Target="/ppt/notesMasters/notesMaster1.xml" Id="R12ca03e192304a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6782a0032f419d" /><Relationship Type="http://schemas.openxmlformats.org/officeDocument/2006/relationships/notesMaster" Target="/ppt/notesMasters/notesMaster1.xml" Id="R2a413476d5e9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2f2e4dce3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bb2c32b33f410a" /><Relationship Type="http://schemas.openxmlformats.org/officeDocument/2006/relationships/slideLayout" Target="/ppt/slideLayouts/slideLayout1.xml" Id="Re164f24b7b5844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64f24b7b5844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7624c75c4afe" /><Relationship Type="http://schemas.openxmlformats.org/officeDocument/2006/relationships/notesSlide" Target="/ppt/notesSlides/notesSlide1.xml" Id="Rc2f967508ec649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a0c869cff46d9" /><Relationship Type="http://schemas.openxmlformats.org/officeDocument/2006/relationships/notesSlide" Target="/ppt/notesSlides/notesSlide2.xml" Id="R3e197513ffc848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e456a131c4588" /><Relationship Type="http://schemas.openxmlformats.org/officeDocument/2006/relationships/notesSlide" Target="/ppt/notesSlides/notesSlide3.xml" Id="R89f9448e53894a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056471f5434e" /><Relationship Type="http://schemas.openxmlformats.org/officeDocument/2006/relationships/notesSlide" Target="/ppt/notesSlides/notesSlide4.xml" Id="R88bc09cc1ade4d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0ebdbe86a456b" /><Relationship Type="http://schemas.openxmlformats.org/officeDocument/2006/relationships/notesSlide" Target="/ppt/notesSlides/notesSlide5.xml" Id="R1636ea7470304c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67730829b4043" /><Relationship Type="http://schemas.openxmlformats.org/officeDocument/2006/relationships/notesSlide" Target="/ppt/notesSlides/notesSlide6.xml" Id="R281d449ea3714b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a6f530d544844" /><Relationship Type="http://schemas.openxmlformats.org/officeDocument/2006/relationships/notesSlide" Target="/ppt/notesSlides/notesSlide7.xml" Id="R3bf78db032db40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03a6ddeb94235" /><Relationship Type="http://schemas.openxmlformats.org/officeDocument/2006/relationships/notesSlide" Target="/ppt/notesSlides/notesSlide8.xml" Id="R7d80f9b41bc644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139554-0890-47C2-B2E8-E979E97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01  •  PROJECT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D746C-DA7E-45F0-BB18-F613228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00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484C6-D549-429A-B55D-68BEC1A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DealTwin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853D2-F7DB-49AF-BFB9-48903DBA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DEEFF"/>
                </a:solidFill>
              </a:defRPr>
            </a:pPr>
            <a:r>
              <a:rPr sz="1875" b="1">
                <a:solidFill>
                  <a:srgbClr val="DDEEFF"/>
                </a:solidFill>
              </a:rPr>
              <a:t>A phone-first assistant that verifies whether the final deal matches what the seller promised.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6BAA5-B9B3-4327-BDC9-9F70843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2571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E2924-34C7-4109-AC46-420444E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41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MVP  ELECTRONICS / NO-COST EMI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93AEE-A5EB-4A94-8CB3-75C3CE2F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647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319DB-FA2E-4111-BBE8-F743802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PRIVATE BY DEFAULT  •  ON 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3AACE-7172-4C9D-8BBA-7485335A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3A6B5-6DF8-494E-AE6E-176EF85F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31D25-816F-4CFF-8F61-2EDA92FC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724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39EE2-F9C4-4C67-9C22-47DE04D5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048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HOW THE IDEA WORKS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92B65-E0D8-4389-8E2F-4603D595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BAE25-2601-481A-BCF3-8AFA6684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8EE35-44C7-4894-BBCE-53660EE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camera • audio •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D3065-D81C-49EC-8E94-F4B9613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81125"/>
            <a:ext cx="1285875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BD627-C931-4ACE-9D07-DBD722F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33525"/>
            <a:ext cx="11334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BCA2AA-A1DB-4FFF-BBE5-DA61F3ED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850"/>
            <a:ext cx="1133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typed +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52BA2-85E8-49D5-8463-163377B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381125"/>
            <a:ext cx="123825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058B2-5153-4547-A380-8B17B5D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533525"/>
            <a:ext cx="1085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0C4380-3672-4AE8-9775-AF1FB4F9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478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rules + true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AD040-132B-46E8-B912-1DF0EAFD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381125"/>
            <a:ext cx="933450" cy="10096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E9D94-4240-4E03-B950-A75405ED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533525"/>
            <a:ext cx="78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56D08-5CDB-47EE-8A26-FCF2F8C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478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61B33"/>
                </a:solidFill>
              </a:defRPr>
            </a:pPr>
            <a:r>
              <a:rPr sz="975" b="0">
                <a:solidFill>
                  <a:srgbClr val="061B33"/>
                </a:solidFill>
              </a:rPr>
              <a:t>status +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B48EE-7983-49C2-B46C-5E55B36B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28900"/>
            <a:ext cx="545782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212085-1E76-4017-931E-64AD41E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908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CORE DIFFERENCE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039EF9-F8EF-42FD-88AA-80EDBCC7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AI organizes evidence. Deterministic rules calculate cost and expose uncertainty.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65E30B-4CEB-45D7-BE05-FE8114E7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490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Every verdict links back to its exact source.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A7F042-57AB-4607-8F3F-40F361F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125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4F60F-E031-4AF1-AFCB-5BC01C2A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USER GETS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A2E0BB-3DD0-4F4F-8E54-FBBAE1A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087A5-1E80-4894-A340-178D3C8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CAPTURE PROOF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37CD3-1596-4CDB-AC05-3C4E8729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Save the ad, chat, call, or PDF before purchase.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DCF095-3B18-41A9-B598-D97C2277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5F11A1-7131-4260-9983-F42C05BC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VERIFY THE FINAL DEAL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DE3CFC-3CB8-4C43-95B7-7E5A093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Compare the invoice, EMI terms, and benefits.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F18EFE-DDEE-4D27-9301-1DA1BE65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158E2-A1B1-440E-8491-FE91F7BB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ACT WITH CLARITY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0DBA3F-9CB6-4A8A-AA22-AF4FE49E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1015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EFF"/>
                </a:solidFill>
              </a:defRPr>
            </a:pPr>
            <a:r>
              <a:rPr sz="1125" b="0">
                <a:solidFill>
                  <a:srgbClr val="DDEEFF"/>
                </a:solidFill>
              </a:rPr>
              <a:t>See what changed and the real financial impact.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2DB37-D6BF-49ED-95A0-0A1927BD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112585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2695FD-FBF2-4108-B7FF-1443AA72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91225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PHONE-FIRST  Capture → verify → explain entirely on iQOO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E8518E-8D86-4633-ACB9-7357183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91225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OFFICE KIT  profiling • logs • test assets</a:t>
            </a:r>
          </a:p>
        </p:txBody>
      </p:sp>
    </p:spTree>
    <p:extLst>
      <p:ext uri="{BB962C8B-B14F-4D97-AF65-F5344CB8AC3E}">
        <p14:creationId xmlns:p14="http://schemas.microsoft.com/office/powerpoint/2010/main" val="657487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78D093A-26A7-4F80-8AC7-D78F416D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C03CB-2200-4544-AA90-36625DFB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02  •  PROBLEM +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CAB75-407D-48AF-B03E-6133550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80781-C3E7-448F-AAF6-866058E2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1DF88-ACD8-47A4-9051-AB2E5610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PROBLEM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B4ADB-9BBB-48E9-9312-16DD35A8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A deal is promised in one place, but documented, charged, and serviced through entirely different 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368C8-EA70-432C-979A-9DC20D93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289"/>
                </a:solidFill>
              </a:defRPr>
            </a:pPr>
            <a:r>
              <a:rPr sz="1275" b="0">
                <a:solidFill>
                  <a:srgbClr val="5E7289"/>
                </a:solidFill>
              </a:rPr>
              <a:t>DealTwin converts both sides into comparable claims, identifies what changed, and explains the financial impact with source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C8E6-1AE3-406E-AA6E-9E231AC8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095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9525">
            <a:solidFill>
              <a:srgbClr val="F3C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59136-2930-4CAF-A52F-CC0E717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D9991-A10C-4658-A7EA-273180A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03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People cannot manually reconcile scattered promises with final terms.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72715-6195-4A36-BBCA-CD80ADF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95550"/>
            <a:ext cx="5381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BDE7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5B0E5-B119-48CF-A888-634990C6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28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F3795-EB3A-4F9E-9759-0CE7F181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03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Build a promise ledger that compares each claim and keeps the proof attached.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A6515-A0AE-4161-830F-A0EBA191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PROMISE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59F4E-D56A-4CA1-BA56-3306639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COMPARABLE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111E8-1221-4D32-9082-84A4B8BD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051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FINAL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F66C6-BF58-4927-8B8B-D35CC779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05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633077-D2E1-4E64-8911-03E945B3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052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A4C56-F415-4CD0-9ECF-13F5B003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D19D8B-7281-4EE5-B3C5-4E8CE3B9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052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0BFBE-67ED-44D2-8657-CBB4EEED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C3795-6C4C-4B51-AC04-6E5B9E7E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052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5535F-810B-47CB-8178-B022A76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3E1A2-95A4-488C-AEE7-E4169805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CC9B7-987F-4447-80DD-A76C5FC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8EE2C8-F3E5-4BA7-9224-25CF82B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7200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C2311-88F6-4C51-9B62-E6E26C80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5DCD9B-2E35-4E5E-BC56-041BA4D7C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32948-81BF-4E21-9574-82C3CDFC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38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AA8AF-8813-46C7-80C3-103927B6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3875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5C55A-684C-498A-8B20-A75A536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87A37-643D-4AE1-A54A-ED812DA0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238750"/>
            <a:ext cx="119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05047E-85A8-4906-805A-DB9AAA20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2D9"/>
                </a:solidFill>
              </a:defRPr>
            </a:pPr>
            <a:r>
              <a:rPr sz="1800" b="1">
                <a:solidFill>
                  <a:srgbClr val="7C62D9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789E3-7058-4EB3-8170-7F3A916E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1200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2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1EC47D-BAB2-4B0A-9368-539B1221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105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289"/>
                </a:solidFill>
              </a:defRPr>
            </a:pPr>
            <a:r>
              <a:rPr sz="1800" b="1">
                <a:solidFill>
                  <a:srgbClr val="5E7289"/>
                </a:solidFill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71764F-B6E7-4062-A0CE-5E606796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9F7D17-4107-45ED-830A-0AD22C19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2B2DF0-8C1A-437B-8E77-6E8E02E4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Ad screenshot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E3F02C-3212-4CC0-8CA7-AF06CECF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no-cost EMI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9AE8D9-5FD5-45BD-B38E-B17D86D2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D41C8-B9B7-4346-85D6-C3E9874F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C9E750-613B-49DF-A9D9-54A9B976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financing_cost = 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692AC2-2F95-4C69-9754-41D3AF24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6B6888-4EDA-4FFD-B2B5-9061107E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0DA0AD-0750-438F-876D-42144BC4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37CA45-63E7-4E64-9401-6B859349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957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§4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0D60FD-8DFE-42E4-AD0B-646D8076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52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processing_fee = 999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D65729-55A6-400B-803A-D6B680B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861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4CF1B5-5458-4FD7-82E6-024BC973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100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CHANGED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1B8365-117F-49BF-9463-E55446D9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528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832636-92BD-4287-98E6-28EC9C10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004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CONTRADICTS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1F9243-F847-43D1-AB10-850D6FF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0B294A-C236-45FD-B40E-94EE8061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6D4C9C-9144-4A44-870A-704A449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Recorded with consent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5666F7-D8A4-4EE7-9FD2-FB092400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free insurance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DF80B5-EE6F-417F-A160-885F5C7D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790F87-1E38-4232-AAE7-ED167D8F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EE9D11-4165-4A4A-8379-7360C9F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insurance.benefit = FREE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F14DF9-AEB9-4528-9FBE-0A60489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FEE3277-3A6B-4248-BCBB-05CF86EB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7C487E-3F86-4EE1-B2A7-978D65CF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48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DDB136-00B7-4BAB-B7F2-B206007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6245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Invoice + KFS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7F482-6651-49D3-BF9A-01AA6ADC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1962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policy reference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E0E3CC8-2B42-4E0F-A4EC-A40D846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5292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946D7F2-0200-45D1-A1EE-AD658923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47675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F465B"/>
                </a:solidFill>
              </a:defRPr>
            </a:pPr>
            <a:r>
              <a:rPr sz="975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D33B27-8602-41C6-A01B-821ADDD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1960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FBC69E-B2F2-4C94-8D75-385F7DD6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6722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NO MATCH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4EAA55-2B9F-434C-A706-EAC0DCA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095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855D5E-CB97-4984-B6F5-9145A223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D150B1-447B-4CBF-A534-C5945DC8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Seller chat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F4D1FD-ACBD-4C65-965C-DEFB98AE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2-year warranty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0516AC5-4628-4BED-9C57-65897AD3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DCBFD3-D11A-4F9A-B9D0-40F95BD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401D452-F298-4646-BEF9-05947A32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warranty.months = 24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AD7A62-42A7-4EF0-97ED-FC0C52D7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source_rank: seller+card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193DF60-1CC7-468D-B0F9-A831EE64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1905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BEF895-757D-4250-8BF8-B95CBDF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55F72A2-A025-4648-879A-C6F5EBC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B33"/>
                </a:solidFill>
              </a:defRPr>
            </a:pPr>
            <a:r>
              <a:rPr sz="1200" b="1">
                <a:solidFill>
                  <a:srgbClr val="061B33"/>
                </a:solidFill>
              </a:rPr>
              <a:t>Warranty card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369C10F-63EB-4143-BE7F-F729DC42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863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coverage = 24 months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8B17CA-ED3A-43DD-A35A-3EA096A1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019675"/>
            <a:ext cx="106680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9E631A-7EB3-407C-881D-5ED12CA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1435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AE98066-3C41-452F-A223-C9E4D69F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86350"/>
            <a:ext cx="10953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E7CD95-9D11-4E44-B214-38406BA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33975"/>
            <a:ext cx="942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SUPPORTS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209492-7BC0-4158-BC29-D6034D31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6108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15792F8-E10B-4FAC-A05E-60FCDC64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72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PLAIN-LANGUAGE RESULT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4B8DEF-879C-48F6-916B-01052DB4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838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The user sees what was kept, changed or omitted—plus the evidence needed to question it.</a:t>
            </a:r>
          </a:p>
        </p:txBody>
      </p:sp>
    </p:spTree>
    <p:extLst>
      <p:ext uri="{BB962C8B-B14F-4D97-AF65-F5344CB8AC3E}">
        <p14:creationId xmlns:p14="http://schemas.microsoft.com/office/powerpoint/2010/main" val="929180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88B753-B99F-4875-A825-84BA36D5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3E219-3E25-4FA9-BBDF-6E5C5BC3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03  •  USER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A7983-715E-4086-AB29-4D422FC2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5C935-F923-41D5-B689-7B9401CF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5C25A-16A7-4FDF-9D1C-E2A5C8D9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ONE GUIDED PHONE WORKFLOW TURNS SCATTERED PROOF INTO A SIMPLE 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E56C4-D8DA-4CA6-AE65-0348A295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The app captures, confirms, analyzes and explains; when evidence is weak, it asks instead of guessing.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42B41-B000-4DAE-A8F6-2A779F1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USER /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13065-3A85-4537-9280-4CF8BAE2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5CC96-C45B-4A1A-BBBD-4C073050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PIPELINE 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AB322-B33C-48DE-AEBF-DC93271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6507C-3DE4-476B-8582-CE391690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LOCAL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83E79-EE61-481F-8101-6F4F5014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910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D6FF2-2B08-492E-8D05-2E2A9F82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VERIFICATION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61E23-4BF6-4B26-B2A2-1AC3D54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05DA3-4092-4210-871D-D3552D7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7289"/>
                </a:solidFill>
              </a:defRPr>
            </a:pPr>
            <a:r>
              <a:rPr sz="975" b="1">
                <a:solidFill>
                  <a:srgbClr val="5E7289"/>
                </a:solidFill>
              </a:rPr>
              <a:t>DATA +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64B7D-C31A-40CC-B7ED-58A313DB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86450"/>
            <a:ext cx="910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A07B7-F5CA-49FA-85A4-6C5EC349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E4B0C-A9B3-45A4-8F61-07CD9BA8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138B1-AABF-4614-BA80-E6E3A45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C279B-1309-4E34-AAE5-3AF3CBF3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384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3CDF1-C461-4D1A-B668-35390A1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A85A7C-C18F-4D66-A1B4-878AEB84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E3105-D89E-4390-B8EA-46D4FB67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camera / share / file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BAA0D-02BC-46CE-88AA-FEADE2E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FD65F-CE34-4727-BA8E-91AFD01C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CONSENT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234D2F-C988-44F3-971F-2742D7FA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audio opt-in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1CFD6-D71E-430C-B553-FBD2B97A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CFD23C-E0ED-45F9-AAD9-3CFA19F7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AB37F-7D03-4A1B-9F03-A778BA6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crop + source type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E2F516-3027-4BDA-B62B-8AC24BFB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714E75-E6A2-4399-83CC-B4C540B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PROCESS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9C01C-5281-4FD7-B68D-3BD5ECE2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start local job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987ABD-E66D-411F-895A-54A54D14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81300"/>
            <a:ext cx="138112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78ED44-7194-49DF-869C-0D8FE30F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86075"/>
            <a:ext cx="1190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332E87-0397-494B-91D0-9718C66A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1190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E7289"/>
                </a:solidFill>
              </a:defRPr>
            </a:pPr>
            <a:r>
              <a:rPr sz="825" b="0">
                <a:solidFill>
                  <a:srgbClr val="5E7289"/>
                </a:solidFill>
              </a:rPr>
              <a:t>ledger +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44487F-ED87-415C-8023-F0FD85B5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5C4FF-59A5-4F8A-B102-03BBD85B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INGEST + HASH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BF0F8A-BD69-448A-B1E4-2C01F78F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615C06-CEED-4E31-A46E-01717744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SCHEDULE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C76ECF-F3B6-4BAB-8D7F-F76D87E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9A276F-C4EC-442F-BF69-65CD2945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RETRY POLICY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8EB303-8AAE-46F3-8F77-905A64B5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8552E-A864-443E-B246-63D2E8FD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STATE MACHINE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2BF275-7C56-4222-A2EE-86EC5973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35CEAC-3BBD-412F-9BDA-93D40331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480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PUBLISH EVENT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12F201-C04B-4988-8C46-4E6FADFE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46688C-0660-470E-B1A5-707C1840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OCR / STT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12B1CE-6469-489D-ABBE-92AD7921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F136E4-1A81-4056-B04D-94D1C7A1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CLAIM JSON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1C4BB5-B15A-49D2-BDE3-C59AC5DB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862839-F91D-49DA-8796-DC940583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6747F8-6CE2-4673-BC54-927D9D5F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481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735D64-A28D-430B-A994-0FC99B7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957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TOP-k RETRIEVAL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DBCB1BD-47C0-4C10-BD7F-B286A368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95850"/>
            <a:ext cx="1285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2B4C2C-35DE-4CE1-B86F-AFAD6586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43475"/>
            <a:ext cx="1133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NORMALIZE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E457A8-63A9-4193-A892-D5C8B010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5B146A-5264-400E-80BB-E0058E2F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93C885-752C-452F-9090-672D37E6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62D9"/>
                </a:solidFill>
              </a:defRPr>
            </a:pPr>
            <a:r>
              <a:rPr sz="900" b="1">
                <a:solidFill>
                  <a:srgbClr val="7C62D9"/>
                </a:solidFill>
              </a:rPr>
              <a:t>SCORE S(p,c)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9197BA-E0BF-4DBE-9D38-48306F1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97730A-D53D-4A57-BD60-F5F4656D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62500"/>
            <a:ext cx="876300" cy="5524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356021-E5CD-48A0-8EE8-0186F1A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434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B9B1E"/>
                </a:solidFill>
              </a:defRPr>
            </a:pPr>
            <a:r>
              <a:rPr sz="1050" b="1">
                <a:solidFill>
                  <a:srgbClr val="DB9B1E"/>
                </a:solidFill>
              </a:rPr>
              <a:t>S ≥ τ?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50A89A-8E47-4C55-B549-8E0E6C5E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2DAEF1-C1E4-4677-A832-6C5ED43F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D3D708-F74B-418E-84B0-99EE81D3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CONSTRAINTS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D85BE4-D18B-49CE-918F-B68A0DAF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86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0C097C-572A-4A44-9E00-CA6C5A6C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E0C890-6FEC-4205-8E59-148E8628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4347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CLASSIFY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94C255-C53B-4B4E-9EF5-6FEF16F4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721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F465B"/>
                </a:solidFill>
              </a:defRPr>
            </a:pPr>
            <a:r>
              <a:rPr sz="825" b="1">
                <a:solidFill>
                  <a:srgbClr val="DF465B"/>
                </a:solidFill>
              </a:rPr>
              <a:t>NO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3CAA76-84F4-4A6B-977C-29DBE299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63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31AE2C-1E90-4F9B-92F4-EA34A7B6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054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2FB8C6-A94A-4545-BCA8-E11E8861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72150"/>
            <a:ext cx="2000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83909F-51CC-4BB3-BC56-C579CEB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19775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ASK USER / UNVERIFIABLE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58DB12-6C44-4938-BEDB-9A57BD35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E7E52A-F065-4106-8792-80CB1A64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2AC66D-CF68-4069-919F-A176E9C8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43550"/>
            <a:ext cx="1333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86326C1-7184-40C8-9F03-3C8723A1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91175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D67294-428F-4DAA-B9F2-5F507718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543550"/>
            <a:ext cx="1143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243AEB6-38D1-4141-BCBC-9DB69CD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5911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630268-991A-4BD4-B151-DC801B7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4355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E889EF-5651-4577-80E1-9F070F9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Promise Ledger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FB96554-0C74-4DE2-9A36-8C1B40A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B58599D-8A22-4E97-B2A3-49B40ABD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15075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Capture the promise and final bill → confirm only if needed → receive kept, changed, and missing terms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1239700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12F737-DE08-4B30-8891-4A730187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55439-F3F8-48CB-9F69-C1BD85EA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04  •  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BCC66-C40C-41D2-99B4-E3F4D95D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78B2B-5B93-4FB2-BF12-4706DA17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FE3BA-91BC-4062-8E8A-7826D7B0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FIVE LAYERS KEEP THE USER EXPERIENCE SIMPLE WHILE THE COMPLEX WORK REMAINS TESTABLE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A62EF-BC6C-4358-A9A4-16006C7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Each layer has one job: capture, coordinate, understand, decide, and preserve proof—even without network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A8CBE-4396-4EFA-BD9C-0786CD2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629900" cy="3219450"/>
          </a:xfrm>
          <a:prstGeom xmlns:a="http://schemas.openxmlformats.org/drawingml/2006/main" prst="roundRect">
            <a:avLst>
              <a:gd name="adj" fmla="val 355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87C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D539-BA90-49A1-8929-A6F8B9CE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iQOO DEVICE TRUST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789D2-29F9-44D7-8C83-74B957DD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181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3F761-583D-4A63-B9E6-068745A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195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FB183-0191-478E-B465-341EFAEE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4577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67B44-2459-4555-83F1-9B6535B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09587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2713F-3E99-4D90-865E-B9B4BA5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UI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C4B63-DE1C-4321-90E3-420CEDB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BD953-4308-4BD7-9BDD-8DA964AA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CaptureScreen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2F77E-ED36-4C4B-B9AF-C85B3F1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6AA12-82A8-4D2E-9ACA-D0DBD99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ReviewScreen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95ED4-5B3F-4AA4-A244-95F5ADE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000375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3A29B-2FDD-4E84-B19A-53A4FB3A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114675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LedgerScreen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A3E928-AAF5-4A84-BDA6-1569633D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13068-090A-47B4-B31B-AAFE8BD5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8E9071-9934-4CC5-8FEB-6AAC1059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PipelineCoordinator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521D6-1E16-4334-BF5D-DD9FA6C5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A3A67-92B8-47E9-8EDA-ED07D211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65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CoroutineWorker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AF5DE-1838-4575-AAB0-29B23666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28321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19851-E53E-4C10-A6AE-DCC5F679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752850"/>
            <a:ext cx="267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UI state reducer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8A1FB9-2932-4CF1-A65E-5F1F5DBB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62D9"/>
                </a:solidFill>
              </a:defRPr>
            </a:pPr>
            <a:r>
              <a:rPr sz="975" b="1">
                <a:solidFill>
                  <a:srgbClr val="7C62D9"/>
                </a:solidFill>
              </a:rPr>
              <a:t>INFERENCE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C49143-2C87-413E-85E6-E0F0A35D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40914-6CD7-477D-A75A-4954FE6C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Bundled OCR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CBA8B-1570-474D-9F48-83F9287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2A2C0F-8E67-4A8A-B3DA-0C32FE8D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Speech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E3337C-40EA-438B-A786-D5AEA55F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C83121-5956-415A-89FC-A2D1DC38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LLM parser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19332A-F8FE-4F11-8AD2-1A63F1E6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27672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5044E0-AE94-4BD7-A42C-1635DC9E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39102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Embedding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D51A9D-A797-4CF6-B251-044B2BB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DOMAIN 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8CB7C3-A91E-4080-BD6C-A6F42AF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5F82A-F38E-4A1D-9BDB-9CD67A9E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Canonicalizer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D3AB9F-CE00-4A85-AF26-ECF855E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0EEBB0-80D4-4B97-A54E-05901764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MatchEngine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DCD8B3-4A3B-4D80-8BD4-D7999BFD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BC9F7F-7B61-4CCA-8105-9047F665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ConstraintEngine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B1D4DE-F331-472B-8907-54A5EE4C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4914900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8963FB-D309-488C-847F-9ED7A7C3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029200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CostEngine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E5E367-616C-4AA8-B09B-E9EB7521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DATA LAYER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01C745-048B-4E07-8EED-CE1282E7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62E665-EDCD-4BC2-92BC-5EA228E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EvidenceStore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62E0B9-5BA9-41ED-B9D9-81E90E5B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029DBD-BB21-4F31-A011-3AB51343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6288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ClaimGraph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EA4D86-77D2-417A-AC9E-C2E3B14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C9084F-FCE2-4747-A705-3D285EC2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AuditLog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1CB070-7868-4BD6-8778-4C57ED03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5553075"/>
            <a:ext cx="2090738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5A466-FAF8-4C8F-9F5B-986A3E99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5667375"/>
            <a:ext cx="193833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DomainPack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8C795B-0295-416C-8719-5E502A7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4F9928-181B-4A3E-8C7F-5DBA447E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43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DEVICE / RUNTIME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3DB824-BC76-4162-AFF7-9CD4CFB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CameraX  •  ML Kit OCR  •  QNN / NNAPI / CPU adapter  •  Android Keystore  •  Room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875476-7192-4691-A936-B1FE314F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86475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ED992F-563D-4BF7-9614-AE779204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13410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</a:t>
            </a:r>
          </a:p>
        </p:txBody>
      </p:sp>
    </p:spTree>
    <p:extLst>
      <p:ext uri="{BB962C8B-B14F-4D97-AF65-F5344CB8AC3E}">
        <p14:creationId xmlns:p14="http://schemas.microsoft.com/office/powerpoint/2010/main" val="872716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2BDECC-1B81-43A8-88F5-DA3090D9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9E412-B9C5-4036-A89A-4E63E5EF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05  • 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61D15-012E-4ECB-89D2-4267E66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8306A-C98B-48BA-BEAB-6F998A8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61216-91FF-4364-93B2-D5918154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AI FINDS THE RIGHT CLAIMS; DETERMINISTIC RULES DECIDE THE MONEY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FD7D4-F673-45C4-A81B-4418A8A4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This prevents a fluent model from inventing a contractual or financial conclusion.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ADE47-5DA5-4763-A3A8-ED3A64F4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CLAIM-PAIR STATE 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3832D-5157-44CA-8A1D-836A9B7C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670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D6C15-DCDD-4CB9-9E13-87C7456E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66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E1004-95E6-4B6E-88AF-71C65C3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0527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9FCE8-2331-4E4C-BF88-A82B073E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A2766-D14F-4ECF-8D7E-8E7F1F30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09D42-5BBD-4066-A9A5-0B875735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752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FAD00-504F-4DE7-AEAF-28003665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9B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A9BAA-8A1E-4FB2-8AE5-3A664462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B9B1E"/>
                </a:solidFill>
              </a:defRPr>
            </a:pPr>
            <a:r>
              <a:rPr sz="1800" b="1">
                <a:solidFill>
                  <a:srgbClr val="DB9B1E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F2B95-5FEC-4E62-BD46-55DDDEF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58102-10F2-49DC-BEA0-1990C2EF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429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A66A"/>
                </a:solidFill>
              </a:defRPr>
            </a:pPr>
            <a:r>
              <a:rPr sz="1800" b="1">
                <a:solidFill>
                  <a:srgbClr val="13A66A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DCF39-B0B4-4A72-B218-D9F4A36C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2057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913BC-2814-4A13-9C06-CAFF71B1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promise claim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64225-B2E6-4271-BDDB-AA5A0F3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E9FF"/>
          </a:solidFill>
          <a:ln xmlns:a="http://schemas.openxmlformats.org/drawingml/2006/main" w="9525">
            <a:solidFill>
              <a:srgbClr val="7C62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4CA89-1CA9-4C11-B7AB-FFB6C67C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1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max S(p,c) ≥ τ 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25EB7-5697-4D74-ACB8-4E8F46C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D2"/>
          </a:solidFill>
          <a:ln xmlns:a="http://schemas.openxmlformats.org/drawingml/2006/main" w="9525">
            <a:solidFill>
              <a:srgbClr val="DB9B1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259B8-B238-40CB-BE87-FA8A2395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B9B1E"/>
                </a:solidFill>
              </a:defRPr>
            </a:pPr>
            <a:r>
              <a:rPr sz="975" b="1">
                <a:solidFill>
                  <a:srgbClr val="DB9B1E"/>
                </a:solidFill>
              </a:rPr>
              <a:t>evidence confidence ≥ γ 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1B5869-4FCF-45ED-877C-51090078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20574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DF5EA"/>
          </a:solidFill>
          <a:ln xmlns:a="http://schemas.openxmlformats.org/drawingml/2006/main" w="9525">
            <a:solidFill>
              <a:srgbClr val="13A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24DF3-FFFD-46F9-A234-10239311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578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A66A"/>
                </a:solidFill>
              </a:defRPr>
            </a:pPr>
            <a:r>
              <a:rPr sz="975" b="1">
                <a:solidFill>
                  <a:srgbClr val="13A66A"/>
                </a:solidFill>
              </a:rPr>
              <a:t>constraints equivalent 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F31F8-D4C1-4DC5-8612-B3117F77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52850"/>
            <a:ext cx="11239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4530F-B695-4CA0-8572-6B522EC9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MISSING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2409A-F3F8-4A22-A1C1-50F9A94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8004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no viable final claim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52D66D-AA83-4A7D-9498-F2496985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91050"/>
            <a:ext cx="1428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842635-EA47-451F-A32B-CB453808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9B1E"/>
                </a:solidFill>
              </a:defRPr>
            </a:pPr>
            <a:r>
              <a:rPr sz="900" b="1">
                <a:solidFill>
                  <a:srgbClr val="DB9B1E"/>
                </a:solidFill>
              </a:rPr>
              <a:t>UNVERIFIABLE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72232-74F4-40F7-874B-31130B09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38675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request confirmation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DE17E6-7744-476E-A7FA-7E6AB31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429250"/>
            <a:ext cx="952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8EBDE5-A917-43C2-9561-F69E4FFB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76875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KEPT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A06EB-520B-47BB-8B2F-F6F8FFF7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76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value + conditions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AAFB7-73FF-4C15-95F3-CF55BE4B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91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constraint mismatch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350BB-B843-4BFB-9462-831F526C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436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F465B"/>
                </a:solidFill>
              </a:defRPr>
            </a:pPr>
            <a:r>
              <a:rPr sz="1800" b="1">
                <a:solidFill>
                  <a:srgbClr val="DF465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741AC-F6B2-4B6C-BEED-7F81E239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F3359E-6EAC-495C-B97F-7C28C4E9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953125"/>
            <a:ext cx="1943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CHANGED / CONTRADICTED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4DD87F-9627-46B5-8868-34091EE1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3981450" cy="3505200"/>
          </a:xfrm>
          <a:prstGeom xmlns:a="http://schemas.openxmlformats.org/drawingml/2006/main" prst="roundRect">
            <a:avLst>
              <a:gd name="adj" fmla="val 3261"/>
            </a:avLst>
          </a:prstGeom>
          <a:solidFill xmlns:a="http://schemas.openxmlformats.org/drawingml/2006/main">
            <a:srgbClr val="071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BA2F5-F6F6-4314-8A9F-4CA51303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384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CONFIGURABLE MATCH SCORE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8D58E8-B677-4EB1-AFB4-46573C76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109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S(p,c) =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45C987-5E8F-458D-8CAB-41B3EA41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3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0.35 semantic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+ 0.20 entity/value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condition overlap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temporal compatibility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+ 0.15 source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EA0117-6607-44A4-808D-376CDE7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DE7923-C5D8-470C-B94C-35107709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91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TRUE PAYABLE 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2FE064-46A1-4BDE-90C5-B712AB21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958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base price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explicit fees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financing cost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+ lost discounts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− confirmed benefits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910A19-86A3-49CE-8935-B82B7DA2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05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5EA"/>
                </a:solidFill>
              </a:defRPr>
            </a:pPr>
            <a:r>
              <a:rPr sz="975" b="1">
                <a:solidFill>
                  <a:srgbClr val="DDF5EA"/>
                </a:solidFill>
              </a:rPr>
              <a:t>EXPLAIN(result)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F02AA5-BF92-44CD-84C6-E4BB23DC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482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status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evidence_ids[]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opposing_ids[]</a:t>
            </a:r>
          </a:p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calculation_steps[]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96E685-5192-46EE-8241-60B49EC1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531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IN PLAIN ENGLISH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8D6D97-0D98-4B41-B973-AF1AB261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3246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Low confidence → ask the user. Conflicting proof → show both sides. Matching terms → mark as kept.</a:t>
            </a:r>
          </a:p>
        </p:txBody>
      </p:sp>
    </p:spTree>
    <p:extLst>
      <p:ext uri="{BB962C8B-B14F-4D97-AF65-F5344CB8AC3E}">
        <p14:creationId xmlns:p14="http://schemas.microsoft.com/office/powerpoint/2010/main" val="2037950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DC7A5-127B-4184-BB88-E096E742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89079-100B-40F5-8674-1957F8E7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06  •  IMPLEMENTATION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A694F-044A-48C5-A696-1ABA7FF0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A28A7-90AD-4858-96A6-A9D9CAB5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FA712-B62B-409F-BB1D-1BE85954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A 25-HOUR PLAN PRIORITIZES ONE COMPLETE MOBILE JOURNEY BEFORE MODEL SOPHISTICATION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F234A-7FC4-4202-A573-BA636FF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Every risky dependency has a fallback, so the demo remains usable without cloud access.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94798-7B28-4F35-9F3A-7C0F9FB2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RUNTIME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13F3B-B37E-4892-BC89-9AA757B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28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PRIMARY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85C13-DE27-4653-AE89-FFB1EBB6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5699C-6150-4F96-BFD8-C190D930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28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FAILURE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9D7DD-143C-428C-B6A0-06BFCC2B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38314-C2C8-423E-B2F8-AD0A8255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F2515-F9A4-4E31-A7ED-47051BA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Bundled ML 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A27BD-BC87-4043-AE0A-7C5EBE1C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manual crop + retry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10EE7-629B-4FC5-93BE-CFDAC95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never accept empty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7F0FD-BB4D-4DDC-85DB-B3A61B9F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423A2-91F9-4C61-A29A-F9E96D5B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Claim 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7CCC5-28C7-4753-A2D3-4869F657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quantized local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121EF4-ED9E-4D18-BAC4-ED6B0E6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67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regex/schema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31D05B-0131-4A61-BC2C-3ADC250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invalid JSON rejected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59F1F-1BF4-4818-9B96-8174783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607E9-55D8-401E-B949-B59A633E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Embeddings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FA389-0DED-4FF4-8CC6-2D609517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433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QNN / NNAPI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6C73AF-53D1-4237-A6BE-ACC03438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433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CPU 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BE0B2-F3C1-4EAF-8D61-3D6995AB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same vector interface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DF34A-762D-4BD2-B3E8-16E89A53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5DE2E-6006-415B-B879-275178B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Speech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32956-A64D-43A3-AA79-CA7E61EF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adapter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5A163A-12A0-4317-9576-F993D372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19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typed confirmation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947B21-7C98-4FFC-A837-3791260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explicit consent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A5339-135E-4B13-A207-38103481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AFB1F-55AD-4FCD-ADAD-62980D4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143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Storage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562860-A109-40A6-AFB2-CEC23C37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958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Room + AES-GCM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D59ED-C937-40B1-89B1-A8B144F4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in-memory demo vault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12F7CF-F07D-4FEA-8BA3-1FD627C9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7289"/>
                </a:solidFill>
              </a:defRPr>
            </a:pPr>
            <a:r>
              <a:rPr sz="975" b="0">
                <a:solidFill>
                  <a:srgbClr val="5E7289"/>
                </a:solidFill>
              </a:rPr>
              <a:t>hash every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8814C6-6C45-419E-8D81-D576A4FB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25-HOUR ACTIVE BUILD WINDOW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98140A-530E-488D-899D-6DF9F37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16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9E2BD8-4B02-4D15-AEEF-6DD0FAF3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11:00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504C17-9FE3-457D-8B79-80CFF34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16:00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9459C-0192-48F6-BE68-5447CF31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22:00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A5CAE-929C-45E7-AF9E-12200B0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06:30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54343D-FB20-4AE6-B0E5-F97D053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48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289"/>
                </a:solidFill>
              </a:defRPr>
            </a:pPr>
            <a:r>
              <a:rPr sz="825" b="1">
                <a:solidFill>
                  <a:srgbClr val="5E7289"/>
                </a:solidFill>
              </a:rPr>
              <a:t>12:00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71C8FE-0D15-4EEB-A3CF-69BD6FE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Vertical slice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714D88-DE10-4A66-A5D1-3E02DDB4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53644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FAE183-814B-42A8-B5EC-9F45A45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528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OCR + parser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C3648C-6B39-4DAC-83BC-E2BE438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752850"/>
            <a:ext cx="70104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0254E7-074F-4BD5-BF33-2ED145A5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Model package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E90CAB-2B5C-4CF1-8EC7-1C36A86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6490" y="4171950"/>
            <a:ext cx="451104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7218E9-6EB8-494B-A175-9F6472AF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Verifier + 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D5501A-E47E-42E8-A66A-94AF1129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4591050"/>
            <a:ext cx="597408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4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F68455-6B6B-4CDC-8932-C7BAEBC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A45"/>
                </a:solidFill>
              </a:defRPr>
            </a:pPr>
            <a:r>
              <a:rPr sz="975" b="1">
                <a:solidFill>
                  <a:srgbClr val="132A45"/>
                </a:solidFill>
              </a:rPr>
              <a:t>Profile + harden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AE1C15-AFA0-46D2-8A0F-91499CD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010150"/>
            <a:ext cx="49987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CFFD97-E50B-4C95-A0A0-CFBBA043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2450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DD667D-3457-4ED3-AABC-8F4E65B3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572125"/>
            <a:ext cx="1371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RED  PHONE-FIRST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427942-A9FC-490D-A40C-090A7AA3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3811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CFE913-7A83-4ABE-8D65-C3EBB214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72125"/>
            <a:ext cx="12287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66A"/>
                </a:solidFill>
              </a:defRPr>
            </a:pPr>
            <a:r>
              <a:rPr sz="900" b="1">
                <a:solidFill>
                  <a:srgbClr val="13A66A"/>
                </a:solidFill>
              </a:rPr>
              <a:t>GREEN  BOTH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B08B6-D4AB-4F4B-90DA-C46B03E2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700087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33B887-0215-4A80-87B8-FE9B39B4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SECURITY + RELIABILITY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8ACA90-27BF-45FB-B925-CB49F9E9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7721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Keystore-managed key • no background recording • append-only audit • BigDecimal arithmetic • low-confidence fail-closed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AA6511-D2F8-4417-A985-91E7851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24550"/>
            <a:ext cx="31623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A6205F-A9B1-44EC-A8D0-C1A31364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19800"/>
            <a:ext cx="2895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B33"/>
                </a:solidFill>
              </a:defRPr>
            </a:pPr>
            <a:r>
              <a:rPr sz="900" b="1">
                <a:solidFill>
                  <a:srgbClr val="061B33"/>
                </a:solidFill>
              </a:rPr>
              <a:t>OFFICE KIT  mirror • logs • test assets • remote input</a:t>
            </a:r>
          </a:p>
        </p:txBody>
      </p:sp>
    </p:spTree>
    <p:extLst>
      <p:ext uri="{BB962C8B-B14F-4D97-AF65-F5344CB8AC3E}">
        <p14:creationId xmlns:p14="http://schemas.microsoft.com/office/powerpoint/2010/main" val="1914276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5F9598A-CCD4-40C1-92C6-405E8997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TEAM ANKOR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E8F82-2794-4AC2-AA03-6F6598B9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SLIDE 07  •  CONCLUSION + SCALABILITY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CD378-EB11-40C4-9F18-D4A004C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E465A-CFB2-4809-A239-A8922A71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7ADD2-65A8-44DC-9BD7-737647E0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DEALTWIN CAN EXPAND FROM EMI DEALS TO INSURANCE, LENDING, AND TELECOM WITHOUT REWRITING THE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D38A9-AFE8-46A2-9276-E0557DF9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B33"/>
                </a:solidFill>
              </a:defRPr>
            </a:pPr>
            <a:r>
              <a:rPr sz="3000" b="1">
                <a:solidFill>
                  <a:srgbClr val="061B33"/>
                </a:solidFill>
              </a:rPr>
              <a:t>Why it can win: a useful phone-first product, transparent AI, and a clear path to many users.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29C21-30B1-41A3-9074-7757AC3A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PROTOTYPE QUALITY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EC7FB0-2AA0-4A6D-89C2-3D17E1CB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0381A-DB06-4006-8254-83F39A10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33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FIXTURE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B46-7566-4087-A0BC-B80D874D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7289"/>
                </a:solidFill>
              </a:defRPr>
            </a:pPr>
            <a:r>
              <a:rPr sz="900" b="1">
                <a:solidFill>
                  <a:srgbClr val="5E7289"/>
                </a:solidFill>
              </a:rPr>
              <a:t>PASS CONDITION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9368E-E63F-4578-8B73-E2D18C08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02537-038F-4017-8FAF-0F5BDCFC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Ingestion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AF963-0E94-40DB-B01E-FBC6A293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575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4 source types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1BD7C-E496-4BDB-91AF-470D476B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57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hash + locator persisted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A89A8-C9E1-4918-BA7B-2417F34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BF761-F1D5-49BB-ABDC-0F8A4E83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953DE-BC4F-4913-8947-69546FD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14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scripted EMI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BA83F-BA8D-4332-B346-1D5DDA5F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7147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valid claim 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67E82-92C2-4DAF-9556-313E0C54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3A30D-26F9-4296-A36F-E6231F2B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92A744-4913-4B25-B8BF-33CC1522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kept/changed/missing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431CF-D12E-4D7A-945C-AD933789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expected status +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35FBF5-CEEB-4D31-9D96-2ABCCE9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543E34-1CDA-4479-9D11-563196DB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Cost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151749-9C73-4444-8067-007E05C5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fee/discount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3EEA2-3EEC-4629-8A76-20EE5A61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291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289"/>
                </a:solidFill>
              </a:defRPr>
            </a:pPr>
            <a:r>
              <a:rPr sz="1050" b="0">
                <a:solidFill>
                  <a:srgbClr val="5E7289"/>
                </a:solidFill>
              </a:rPr>
              <a:t>exact BigDecimal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13AC6-4664-4C7F-AE33-5BAF1F81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1B4D4B-EE6B-4071-9071-64620C5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BBB04-737F-4EE4-A346-BBF11A22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A45"/>
                </a:solidFill>
              </a:defRPr>
            </a:pPr>
            <a:r>
              <a:rPr sz="1050" b="0">
                <a:solidFill>
                  <a:srgbClr val="132A45"/>
                </a:solidFill>
              </a:rPr>
              <a:t>offline default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2A76C6-B592-4C41-A04C-EECDAC66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863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0 raw uploads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CE851-3F91-428D-A928-63FC4A25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F4"/>
                </a:solidFill>
              </a:defRPr>
            </a:pPr>
            <a:r>
              <a:rPr sz="975" b="1">
                <a:solidFill>
                  <a:srgbClr val="287CF4"/>
                </a:solidFill>
              </a:rPr>
              <a:t>DOMAIN-PACK INTERFACE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F2045-D1BE-41F0-8A5B-CF4CD850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7DEAE5-00FA-4B48-8473-4F6B0C1A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242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ontology.yaml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4F8E16-598C-4089-9A2E-F5B3946D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861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B9683A-DBA2-41FD-A9F2-B7CA8A30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EC2175-791B-4D27-AF15-E9553385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385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claim.schema.json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E747C8-700C-4DC2-A655-B5E00754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F24C80-1E30-4502-BB93-02A002A6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746B7B-F11E-4755-B86B-B7511C56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529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rules.kts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2355B3-55DE-46E2-9FF1-2189993E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3DB6C3-E5FA-4174-94AB-8DB0315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2000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5D6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668C35-9A4E-4A60-B0A0-BCFABBA4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6725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3"/>
                </a:solidFill>
              </a:defRPr>
            </a:pPr>
            <a:r>
              <a:rPr sz="1050" b="1">
                <a:solidFill>
                  <a:srgbClr val="061B33"/>
                </a:solidFill>
              </a:rPr>
              <a:t>few-shot examples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2E79E8-E3EC-415F-8EF8-A96E583A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305983-BD01-4AEB-AAE7-322D08F3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764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4A76A2-1450-4BB4-9902-115E030C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SAME ENGINE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4D10A4-F34F-4106-9674-4308E615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90925"/>
            <a:ext cx="1657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Claim parser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Evidence graph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Match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Constraint engine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Audit + explanation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332615-31C8-4697-82E4-5F88773C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006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Electronics EMI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89D62C-BC38-45EA-A8CD-6775B262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F2C6A07-547F-4A3B-943D-897442CE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Insurance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D4CBE7-9B85-423D-BDDD-2EAFB877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AAE9E4-26D5-4379-96DD-C5EF252F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200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Lending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A4DC89-1222-4B7E-B11B-DC111A3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530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CF4"/>
                </a:solidFill>
              </a:defRPr>
            </a:pPr>
            <a:r>
              <a:rPr sz="1800" b="1">
                <a:solidFill>
                  <a:srgbClr val="287CF4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43EF00-4023-43E3-85BA-7898197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B33"/>
                </a:solidFill>
              </a:defRPr>
            </a:pPr>
            <a:r>
              <a:rPr sz="975" b="1">
                <a:solidFill>
                  <a:srgbClr val="061B33"/>
                </a:solidFill>
              </a:rPr>
              <a:t>Telecom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23FDEB-A8DF-4C20-9BEA-57D423AC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629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61B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62DB0D-3912-4F8C-82EA-B9062446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WHY IT CAN WIN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056EBE-43B7-49E7-A2A9-B68F18E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866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High-frequency consumer problem  •  measurable savings  •  traceable AI  •  reusable domain packs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A21144-86AC-4B11-A135-18409A69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19800"/>
            <a:ext cx="866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DEEFF"/>
                </a:solidFill>
              </a:defRPr>
            </a:pPr>
            <a:r>
              <a:rPr sz="900" b="0">
                <a:solidFill>
                  <a:srgbClr val="DDEEFF"/>
                </a:solidFill>
              </a:rPr>
              <a:t>Rubric coverage: product quality • novelty • technical depth • phone use • Office Kit • demo</a:t>
            </a:r>
          </a:p>
        </p:txBody>
      </p:sp>
    </p:spTree>
    <p:extLst>
      <p:ext uri="{BB962C8B-B14F-4D97-AF65-F5344CB8AC3E}">
        <p14:creationId xmlns:p14="http://schemas.microsoft.com/office/powerpoint/2010/main" val="1694490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C18F6A-167B-4C6C-A718-01B8D97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D2E7"/>
                </a:solidFill>
              </a:defRPr>
            </a:pPr>
            <a:r>
              <a:rPr sz="975" b="1">
                <a:solidFill>
                  <a:srgbClr val="51D2E7"/>
                </a:solidFill>
              </a:rPr>
              <a:t>SLIDE 08  •  CLOSING +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3EEE1-8FCC-4C6B-A824-06F5CCFF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95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EFF"/>
                </a:solidFill>
              </a:defRPr>
            </a:pPr>
            <a:r>
              <a:rPr sz="975" b="1">
                <a:solidFill>
                  <a:srgbClr val="DDEEFF"/>
                </a:solidFill>
              </a:rPr>
              <a:t>TEAM ANKOR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2630D-D75C-447C-A57D-34AC9EF1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C63D1-E107-459C-9FD8-45DD353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91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DEEFF"/>
                </a:solidFill>
              </a:defRPr>
            </a:pPr>
            <a:r>
              <a:rPr sz="1950" b="1">
                <a:solidFill>
                  <a:srgbClr val="DDEEFF"/>
                </a:solidFill>
              </a:rPr>
              <a:t>A promise becomes defensible only when it is structured, verified, and linked back 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01393-CA18-4692-805F-34A88154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5191125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D2A49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168A6-0A08-40B8-8385-8CBE3E26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WHAT THE LIVE DEMO PROVES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3EAF5-952D-4C46-AC6A-87A4F13F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08105-837D-4810-AC45-A9D7195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Capture an ad and an invoice on the phone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58661-B733-415F-999B-F8AD41B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FB0F0-2285-4ACD-8AE4-F7EC3C9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Build canonical claims locally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FCE7B-BE62-46DE-A437-C2C264F5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52113-E99E-481A-9437-D9D5F0D2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Reconcile the promise with final terms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3D7DE-4A98-489B-8CBC-BBE31E17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F465B"/>
                </a:solidFill>
              </a:defRPr>
            </a:pPr>
            <a:r>
              <a:rPr sz="900" b="1">
                <a:solidFill>
                  <a:srgbClr val="DF465B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0ADD0C-CA3E-4DCD-89DA-B1D7199F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Show ₹2,148 in added cost with source locators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02B6E-619F-4D92-B146-C4A8978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87CF4"/>
                </a:solidFill>
              </a:defRPr>
            </a:pPr>
            <a:r>
              <a:rPr sz="900" b="1">
                <a:solidFill>
                  <a:srgbClr val="287CF4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855CC-EE41-4B91-86EF-0581A921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DEEFF"/>
                </a:solidFill>
              </a:defRPr>
            </a:pPr>
            <a:r>
              <a:rPr sz="1050" b="0">
                <a:solidFill>
                  <a:srgbClr val="DDEEFF"/>
                </a:solidFill>
              </a:rPr>
              <a:t>Generate a neutral clarification 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ECA17-5371-4D9D-990A-22CCBDD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53050"/>
            <a:ext cx="3429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87C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720572-ADCF-43F7-A8D7-5634954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QUESTIONS  •  ARCHITECTURE  •  LIVE DEMO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23D861-ABB3-420B-A2B9-F69A25B6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8953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1D2E7"/>
                </a:solidFill>
              </a:defRPr>
            </a:pPr>
            <a:r>
              <a:rPr sz="1050" b="1">
                <a:solidFill>
                  <a:srgbClr val="51D2E7"/>
                </a:solidFill>
              </a:rPr>
              <a:t>END-TO-END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88EDE-56F8-4ED0-88A4-CBF343EF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BE6B0-202B-40DA-A4F2-B01A3100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38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294FF-3AB3-4A24-8225-EF415D53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sha256 + source locator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51A27-BF77-4FFB-8899-7A52A14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62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3CC34-C034-40EA-8D69-D50FB358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E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286BD7-79D9-4C74-AAA5-341C6885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90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62D9"/>
                </a:solidFill>
              </a:defRPr>
            </a:pPr>
            <a:r>
              <a:rPr sz="1050" b="1">
                <a:solidFill>
                  <a:srgbClr val="7C62D9"/>
                </a:solidFill>
              </a:rPr>
              <a:t>CLAIM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E6D11-E2DA-45C9-9982-E2B55DA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90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typed value + condition + authority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6D85D5-2DBC-43C4-823C-95935EE2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14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CC5B18-95CC-49AA-B72C-8F9D6BF8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E4213-8FF7-4D76-B909-B30BB285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66A"/>
                </a:solidFill>
              </a:defRPr>
            </a:pPr>
            <a:r>
              <a:rPr sz="1050" b="1">
                <a:solidFill>
                  <a:srgbClr val="13A66A"/>
                </a:solidFill>
              </a:rPr>
              <a:t>VERIFIER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3D01E-CCF9-4907-A08A-47E2F03C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43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retrieval → constraints → cost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C94EE-6CF3-4E4F-93C6-73F2E30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1D2E7"/>
                </a:solidFill>
              </a:defRPr>
            </a:pPr>
            <a:r>
              <a:rPr sz="1800" b="1">
                <a:solidFill>
                  <a:srgbClr val="51D2E7"/>
                </a:solidFill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71FA6C-8129-454C-96B7-70D808D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40957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070CF-5481-4385-B276-0A58F1A2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95775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F4"/>
                </a:solidFill>
              </a:defRPr>
            </a:pPr>
            <a:r>
              <a:rPr sz="1050" b="1">
                <a:solidFill>
                  <a:srgbClr val="287CF4"/>
                </a:solidFill>
              </a:rPr>
              <a:t>LEDGER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6800EB-B997-41BE-A588-C07AD759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61B33"/>
                </a:solidFill>
              </a:defRPr>
            </a:pPr>
            <a:r>
              <a:rPr sz="1125" b="1">
                <a:solidFill>
                  <a:srgbClr val="061B33"/>
                </a:solidFill>
              </a:rPr>
              <a:t>status + explanation +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1C4DC5-86FA-4F95-B235-5B3B3DD6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9590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745"/>
          </a:solidFill>
          <a:ln xmlns:a="http://schemas.openxmlformats.org/drawingml/2006/main" w="9525">
            <a:solidFill>
              <a:srgbClr val="31506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DDA5D-8A66-4CC1-B4D1-7B7574C1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578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1D2E7"/>
                </a:solidFill>
              </a:defRPr>
            </a:pPr>
            <a:r>
              <a:rPr sz="900" b="1">
                <a:solidFill>
                  <a:srgbClr val="51D2E7"/>
                </a:solidFill>
              </a:rPr>
              <a:t>DEFAULT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D33F5-ABB6-4AD7-9F18-6A264061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429250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evidence • deterministic cost • explicit uncertainty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69F067-0CB9-4F48-9CB7-C254D65C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388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DealTwin  •  Remember the promise. Verify the deal.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270C60-07FB-411E-8078-F6BCCCD9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29375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DEEFF"/>
                </a:solidFill>
              </a:defRPr>
            </a:pPr>
            <a:r>
              <a:rPr sz="900" b="1">
                <a:solidFill>
                  <a:srgbClr val="DDEE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586176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2026-08-24T18:11:10.4220000Z</dcterms:created>
  <dcterms:modified xsi:type="dcterms:W3CDTF">2026-08-24T18:11:10.4220000Z</dcterms:modified>
</coreProperties>
</file>