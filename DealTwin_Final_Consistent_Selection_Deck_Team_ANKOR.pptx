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69e4fcdb64252" /><Relationship Type="http://schemas.openxmlformats.org/officeDocument/2006/relationships/extended-properties" Target="/docProps/app.xml" Id="Rabd07d87d65a4c6b" /><Relationship Type="http://schemas.openxmlformats.org/officeDocument/2006/relationships/officeDocument" Target="/ppt/presentation.xml" Id="R20bbf4f1758a41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7deea4495b41ac"/>
  </p:sldMasterIdLst>
  <p:notesMasterIdLst>
    <p:notesMasterId xmlns:r="http://schemas.openxmlformats.org/officeDocument/2006/relationships" r:id="Rf3a31f57741741fd"/>
  </p:notesMasterIdLst>
  <p:sldIdLst>
    <p:sldId xmlns:r="http://schemas.openxmlformats.org/officeDocument/2006/relationships" id="256" r:id="R9671345e77064ff4"/>
    <p:sldId xmlns:r="http://schemas.openxmlformats.org/officeDocument/2006/relationships" id="257" r:id="R969dac01b01341ba"/>
    <p:sldId xmlns:r="http://schemas.openxmlformats.org/officeDocument/2006/relationships" id="258" r:id="Rd390c65c94f74532"/>
    <p:sldId xmlns:r="http://schemas.openxmlformats.org/officeDocument/2006/relationships" id="259" r:id="Re036f3484a7a4a15"/>
    <p:sldId xmlns:r="http://schemas.openxmlformats.org/officeDocument/2006/relationships" id="260" r:id="Rde99826a9f9a41a2"/>
    <p:sldId xmlns:r="http://schemas.openxmlformats.org/officeDocument/2006/relationships" id="261" r:id="R5253f827b346427a"/>
    <p:sldId xmlns:r="http://schemas.openxmlformats.org/officeDocument/2006/relationships" id="262" r:id="R15f503e2cdd342ab"/>
    <p:sldId xmlns:r="http://schemas.openxmlformats.org/officeDocument/2006/relationships" id="263" r:id="R16e398bef6da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b602d19dc34e36" /><Relationship Type="http://schemas.openxmlformats.org/officeDocument/2006/relationships/slideMaster" Target="/ppt/slideMasters/slideMaster1.xml" Id="R0e7deea4495b41ac" /><Relationship Type="http://schemas.openxmlformats.org/officeDocument/2006/relationships/notesMaster" Target="/ppt/notesMasters/notesMaster1.xml" Id="Rf3a31f57741741fd" /><Relationship Type="http://schemas.openxmlformats.org/officeDocument/2006/relationships/presProps" Target="/ppt/presProps.xml" Id="Rc95a72a76f044b40" /><Relationship Type="http://schemas.openxmlformats.org/officeDocument/2006/relationships/tableStyles" Target="/ppt/tableStyles.xml" Id="R9200d338ce794e26" /><Relationship Type="http://schemas.openxmlformats.org/officeDocument/2006/relationships/slide" Target="/ppt/slides/slide1.xml" Id="R9671345e77064ff4" /><Relationship Type="http://schemas.openxmlformats.org/officeDocument/2006/relationships/slide" Target="/ppt/slides/slide2.xml" Id="R969dac01b01341ba" /><Relationship Type="http://schemas.openxmlformats.org/officeDocument/2006/relationships/slide" Target="/ppt/slides/slide3.xml" Id="Rd390c65c94f74532" /><Relationship Type="http://schemas.openxmlformats.org/officeDocument/2006/relationships/slide" Target="/ppt/slides/slide4.xml" Id="Re036f3484a7a4a15" /><Relationship Type="http://schemas.openxmlformats.org/officeDocument/2006/relationships/slide" Target="/ppt/slides/slide5.xml" Id="Rde99826a9f9a41a2" /><Relationship Type="http://schemas.openxmlformats.org/officeDocument/2006/relationships/slide" Target="/ppt/slides/slide6.xml" Id="R5253f827b346427a" /><Relationship Type="http://schemas.openxmlformats.org/officeDocument/2006/relationships/slide" Target="/ppt/slides/slide7.xml" Id="R15f503e2cdd342ab" /><Relationship Type="http://schemas.openxmlformats.org/officeDocument/2006/relationships/slide" Target="/ppt/slides/slide8.xml" Id="R16e398bef6da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90bb3a6d44b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65a2496fb4492b" /><Relationship Type="http://schemas.openxmlformats.org/officeDocument/2006/relationships/notesMaster" Target="/ppt/notesMasters/notesMaster1.xml" Id="R21b448bc2f55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bce05d65cb434f" /><Relationship Type="http://schemas.openxmlformats.org/officeDocument/2006/relationships/notesMaster" Target="/ppt/notesMasters/notesMaster1.xml" Id="R8d6b9b4afe1d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e26238243d4b79" /><Relationship Type="http://schemas.openxmlformats.org/officeDocument/2006/relationships/notesMaster" Target="/ppt/notesMasters/notesMaster1.xml" Id="R99cec961bbd940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18d4c907241db" /><Relationship Type="http://schemas.openxmlformats.org/officeDocument/2006/relationships/notesMaster" Target="/ppt/notesMasters/notesMaster1.xml" Id="R7f46df04b3ad4d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4c0ec37ef48c2" /><Relationship Type="http://schemas.openxmlformats.org/officeDocument/2006/relationships/notesMaster" Target="/ppt/notesMasters/notesMaster1.xml" Id="Rd6c495d4e5e847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a77dcf82904fe0" /><Relationship Type="http://schemas.openxmlformats.org/officeDocument/2006/relationships/notesMaster" Target="/ppt/notesMasters/notesMaster1.xml" Id="R1420e879a45d42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21c539ead649ce" /><Relationship Type="http://schemas.openxmlformats.org/officeDocument/2006/relationships/notesMaster" Target="/ppt/notesMasters/notesMaster1.xml" Id="R0b195bbf67b14c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eb1b62ac83416f" /><Relationship Type="http://schemas.openxmlformats.org/officeDocument/2006/relationships/notesMaster" Target="/ppt/notesMasters/notesMaster1.xml" Id="R9f2aff1c372642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ba61a85e546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5d8523fcb04a61" /><Relationship Type="http://schemas.openxmlformats.org/officeDocument/2006/relationships/slideLayout" Target="/ppt/slideLayouts/slideLayout1.xml" Id="Re70bc3d27a7342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0bc3d27a7342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931c4cc3047de" /><Relationship Type="http://schemas.openxmlformats.org/officeDocument/2006/relationships/notesSlide" Target="/ppt/notesSlides/notesSlide1.xml" Id="Rb8d400d1e5bc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de42ea384c4c" /><Relationship Type="http://schemas.openxmlformats.org/officeDocument/2006/relationships/notesSlide" Target="/ppt/notesSlides/notesSlide2.xml" Id="R37b5d2cda95a44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f987fc1da486f" /><Relationship Type="http://schemas.openxmlformats.org/officeDocument/2006/relationships/notesSlide" Target="/ppt/notesSlides/notesSlide3.xml" Id="R65458994411d42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d75e32c4a4468" /><Relationship Type="http://schemas.openxmlformats.org/officeDocument/2006/relationships/notesSlide" Target="/ppt/notesSlides/notesSlide4.xml" Id="Rec66dcc8504b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db0c2352f43ab" /><Relationship Type="http://schemas.openxmlformats.org/officeDocument/2006/relationships/notesSlide" Target="/ppt/notesSlides/notesSlide5.xml" Id="R1705de5483804e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736cc30774e41" /><Relationship Type="http://schemas.openxmlformats.org/officeDocument/2006/relationships/notesSlide" Target="/ppt/notesSlides/notesSlide6.xml" Id="R655053f02c664b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e9945633640d9" /><Relationship Type="http://schemas.openxmlformats.org/officeDocument/2006/relationships/notesSlide" Target="/ppt/notesSlides/notesSlide7.xml" Id="R794c19c7866344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87c4fae9345a5" /><Relationship Type="http://schemas.openxmlformats.org/officeDocument/2006/relationships/notesSlide" Target="/ppt/notesSlides/notesSlide8.xml" Id="R7d7d5e964fea49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874252-0BDD-4B10-B9EF-42E7A441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47050-22F6-4B31-8F1B-6B9E8CA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01  •  PROJECT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EBE2A-8389-467D-A472-85CA53C7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125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EDDCE-70BE-49F1-BBDC-E6E2BBC2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DealTwin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6CD74-B3B4-4103-988C-00CA49B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DEEFF"/>
                </a:solidFill>
              </a:defRPr>
            </a:pPr>
            <a:r>
              <a:rPr sz="1875" b="1">
                <a:solidFill>
                  <a:srgbClr val="DDEEFF"/>
                </a:solidFill>
              </a:rPr>
              <a:t>A phone-first assistant that verifies whether the final deal matches what the seller promised.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C54D0-DE76-45D6-B2FE-9E92357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E0EC-FABC-49E7-A6A2-66BFE9C2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MVP  ELECTRONICS / NO-COST EMI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34155-9FD6-419C-8E05-57E6E4F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647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568FA-781C-4613-9154-9311EAD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PRIVATE BY DEFAULT  •  ON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B0AF-615B-4107-8F95-DF03F6A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F902E-1EEC-4478-AEB5-1AD9DED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DFD3E-A4A9-4C04-B843-1194C4B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7C326-8112-4601-82FE-389C2C42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048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HOW THE IDEA WORKS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647C4-3F99-473C-839A-16FB2DAE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B7F6B-C339-4A75-9B4D-5144D4BF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BEA74-0394-4C8D-B8B5-3C0952D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camera • audio •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AE3E8-11DB-462A-A355-D7BC9812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08C8A9-EBBF-42EC-AC7A-26E9BBBB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2A7A4-16A2-47A2-8148-F6DC2068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typed + provenance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59F75-B899-422D-A379-2D32659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381125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AD2B2-60B5-4BCF-8D2B-747D85B7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33525"/>
            <a:ext cx="1085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680DC-32FA-4B7E-8577-72B625F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478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rules + true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8D023-C0CD-4845-A6E8-96EA4ECE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933450" cy="10096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70D5E-0D3F-4345-AF4A-900D770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33525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557DB-1C19-4A00-A07C-564754E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status + 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5B582-571B-4883-9FFC-635C45B5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54578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EC939-7754-49DB-920C-377A1F6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908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CORE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E7-0D10-4539-B037-8D08CC2B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organizes evidence. Deterministic rules calculate cost and expose uncertainty.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8F4BA-9FA4-4332-87B7-C8C4072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490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Every verdict links back to its exact source.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044C5-D96F-42F5-A478-EABA0EE2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125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F14A89-7138-4010-ADCD-D0BB3BE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USER GETS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A386D-4563-4679-B997-196A3170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3602D-443B-4946-B72F-B06723B4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CAPTURE PROOF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F6CF33-55FA-47B0-A9A9-B71DEDB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Save the ad, chat, call, or PDF before purchase.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1A1239-F5F8-4954-943B-913E86A9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77CC2-AD1F-4249-93FF-C01EE3F8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VERIFY THE FINAL DEAL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67783-4DCD-4445-9CA2-17CDFC06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Compare the invoice, EMI terms, and benefits.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DC0834-3947-4507-AA96-576116BD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FD69F-798A-4850-B35A-E84C6430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 WITH CLARITY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0B0F0-BF7F-4A84-836C-723F9DC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See what changed and the real financial impact.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E01C51-E0A9-43ED-9B74-3237EC1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1258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D1D614-769B-47D2-8075-866ACA03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91225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PHONE-FIRST  Capture → verify → explain entirely on iQOO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1C3EA4-3757-4847-BA9B-B7030AB0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9122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OFFICE KIT  profiling • logs • test assets</a:t>
            </a:r>
          </a:p>
        </p:txBody>
      </p:sp>
    </p:spTree>
    <p:extLst>
      <p:ext uri="{BB962C8B-B14F-4D97-AF65-F5344CB8AC3E}">
        <p14:creationId xmlns:p14="http://schemas.microsoft.com/office/powerpoint/2010/main" val="1465554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A0DFF1A-385D-4D51-AC66-6E6187B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DF93E-4AFB-4B2E-B11F-91364C4C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02  •  PROBLEM +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EE79-7B57-4C33-A3E9-D794CEB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3E125-BF3D-4597-A242-9F3EB0F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6AA68-7AEC-48B2-8C3E-0779BC7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PROBLEM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6830B-1B3D-405D-B071-A7C2608A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A deal is promised in one place, but documented, charged, and serviced through entirely different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5E40A-CBCD-4859-B319-52F0085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289"/>
                </a:solidFill>
              </a:defRPr>
            </a:pPr>
            <a:r>
              <a:rPr sz="1275" b="0">
                <a:solidFill>
                  <a:srgbClr val="5E7289"/>
                </a:solidFill>
              </a:rPr>
              <a:t>DealTwin converts both sides into comparable claims, identifies what changed, and explains the financial impact with source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E3CFA-F08A-49C0-A0CF-902181D3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095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9525">
            <a:solidFill>
              <a:srgbClr val="F3C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116ED-7BC7-4A63-B20B-F52B5B7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4F49C-E799-43B3-8EFD-7B25D7B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People cannot manually reconcile scattered promises with final terms.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C709A-2616-4EBD-9E2F-AB621B8B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95550"/>
            <a:ext cx="5381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BDE7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75115-DA3B-4C3B-AD14-4D7C37B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28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994FB-DFBA-42BB-8AE6-DDC030EF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Build a promise ledger that compares each claim and keeps the proof attached.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82954-AB40-4DCF-8BF9-BBB0F1D4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PROMISE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0E65B-70F7-47CF-96AA-ED41AC59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COMPARABLE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4FFA6-C7CD-4187-9EEC-6CF78FD3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FINAL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7BF9A-0629-472D-98F6-79AF36CC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5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84467-430C-45B7-908B-662E153B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141C1-C284-4550-8C40-89F430E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932E3-73DF-4EB7-B2F2-6B78BE46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052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5939-8760-4975-87C8-1AB916CE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F9087-9F13-4B08-A847-20CF2A7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3BCF9-2B94-48B8-BFC9-6C897FBA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5525C-7305-413E-B055-B3FD6908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4220D-FFD7-458E-A9D9-D787AE86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E7687-6CA9-4FDC-840A-A7F0D19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720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FBDD2E-6D9B-4189-AF06-66E5419D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A4B78-CA93-4984-85A2-421C390D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4A7FFF-F141-4F7E-B56A-1879E96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46B86-4340-473D-8EE6-F32B905B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38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EE03F-A257-4699-9CF4-0FE0019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812D4-7676-4E7B-ACA2-F69AECE9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387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B83712-209F-49AB-B5D4-501DF109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ABFC1A-057A-4465-989D-96A94BFB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194947-1179-41F7-ADB7-3A3018FD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F58E7E-0E5E-48A2-B6A9-9F9CE854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BFA989-1EFC-4184-AC1A-F796FE4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2DFCF5-F010-4AE7-AAEE-788DFF9C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Ad screenshot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5621A8-A952-4EE3-A7CF-6B48D85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no-cost EMI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DAE48-F37A-48C3-A02F-7681A9CD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A63F09-6C9D-4891-BA6C-AFCB226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63C33B-5D97-4B23-8835-D5C0EFDA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financing_cost =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8C5335-367B-488B-8FF8-DFDB6882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6A5F43-6601-4910-92AC-CD52D382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E1B04C-1A96-44A2-82E1-E0DB6807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F0A80B-146E-4070-A6DF-2EBE0685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§4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65F27-427F-4301-BAD1-F6C37E51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processing_fee = 999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DF2507-D688-4C51-B266-A6686F9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861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F50696-A7BB-4939-B82C-C991DB0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100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CHANGED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E45A85-9583-4E69-8C01-86B99E15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BCA236-9D2E-4246-AE7D-2EEA599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004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CONTRADICTS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19B1B1-21EA-471B-BF48-49E924BE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29DDC7-B7F9-4789-BFEC-13945983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8C703A-4764-4AC6-9EB8-40680C0C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Recorded with consent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7110E8-9B07-451D-9D9E-DD13301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free insurance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DEC9FC-0832-4AB5-8DA5-BCCC7372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A6978A-440D-4497-8B92-E2E1E2E3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A647307-54D2-4EDF-82D8-5FF5985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insurance.benefit = FREE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478469-6226-408F-91B1-39BFD9ED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D1A7D2-2E15-4C23-91CF-AEFDE28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4FE69F-110A-45B2-AACE-A4462F83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F931B9-C03A-4D14-B3AD-8AAA8E96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+ KFS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D23772-7821-4081-8F35-6FED32BF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policy reference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CF772D-E923-40FC-AF4E-699AF49A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5292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F72A38-541D-47B6-8756-2AECAFEB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4767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1D12CC-6E59-4043-BDF5-D9A8FA0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A91C31-C0DF-4CC1-A303-827A7560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6722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NO MATCH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D385EB-D25F-4BD3-9AFE-8A4B432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99A86F-C50E-45AE-8E95-2765F9D2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ADF521-9B07-43E8-BA7F-48294D34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Seller chat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F66456-391D-4967-844B-19B8E6C5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2-year warranty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7049F5-4D1A-4A80-9FAE-0B4C1453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7C22FE-D9E6-4D0F-BE8A-6D42571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6EA1C7-869F-4EEF-9C80-4D946F9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warranty.months = 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288513-202D-424C-B4B1-3C84A4C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seller+card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C6F729-2177-4C51-B65A-3A9E86FD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FC47F0-2FF8-44AB-BE4E-89B44E75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E5227DE-9EB6-490B-B7A9-37BF052B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 card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41F35E-04AE-4898-9552-3EA8552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coverage = 24 months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AF93890-D8A3-4A09-828A-C9F74B1F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196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186947-E659-496B-8A17-B519CA4E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435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AF2DED-3E01-4196-A340-93244F3F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63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C176F9-0BD3-4EE0-9FA5-76F90DF6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33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SUPPORTS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4278D7-B014-4539-B31E-E8B1B80D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108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4DA272A-CC95-4E9E-8EE9-81FFB74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PLAIN-LANGUAGE RESULT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571FCB-D65B-4441-B41A-A48C4EAE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user sees what was kept, changed or omitted—plus the evidence needed to question it.</a:t>
            </a:r>
          </a:p>
        </p:txBody>
      </p:sp>
    </p:spTree>
    <p:extLst>
      <p:ext uri="{BB962C8B-B14F-4D97-AF65-F5344CB8AC3E}">
        <p14:creationId xmlns:p14="http://schemas.microsoft.com/office/powerpoint/2010/main" val="556567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1B7E87-39BD-4F60-88B8-298B18A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1DE26-1138-46BF-BE4B-8C12BA44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03  •  USER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F38B9-B573-4390-A5BE-F8CEAA6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720A1-09DA-4EFF-88F9-063C11FA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40FF6-F6D7-42CD-98AF-D689EB21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ONE GUIDED PHONE WORKFLOW TURNS SCATTERED PROOF INTO A SIMPLE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6D6E1-2221-4EB6-8865-159E156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The app captures, confirms, analyzes and explains; when evidence is weak, it asks instead of guessing.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57B11-BC4D-4C60-80B1-B66E9FF6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USER /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ABD79-6D8F-4BEA-A62C-C9A6E8AF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28FFB-C00A-4AEB-849C-2BBB1A31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PIPELINE 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AEE4D-D108-476F-8C8A-3C827A1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2982F-4552-4E92-A464-0B1F1B96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LOCAL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4D752-B8E3-4D02-8FF5-2558DCA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B5370-A68B-4698-8BA5-7CF0BFBA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VERIFICATION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0047A-B997-4645-B204-633BC8F5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3D9A5-4C92-43C8-B253-D1450F4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DATA +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F2CD9-F5D5-41F3-A67B-C69CC235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864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5700D-321C-43B1-A3B4-1CE10858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760B61-E976-4FB1-9DFA-44C3073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CE262-40B6-4ACF-A265-AE8DDAFA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EEAAC-9FC9-44A0-B63B-D3973129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B1206-1955-4C30-B3AF-0D524E12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09E59-F077-4267-A8F0-406F80D4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5B565-0AC4-45D7-AC31-7A179C8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camera / share /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F1B3C-E855-47A5-BA85-CCCD30D1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1B98C-4D30-4095-A736-DE4BC41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CONSENT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11685-49BA-4BD1-9BE3-EF9045C4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audio opt-in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637EA-0309-453B-BE8C-4C000C79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6BBB5-BDF7-493B-B02F-59386E9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E7E5A-B0BC-4AF9-9CFA-523F80DE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crop + source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50713-E37E-4C1E-A4C5-3A9BAD11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55F4C6-423A-4A67-9675-5140F91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PROCESS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4764E8-C6C3-4E06-A192-AF919E6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start local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A68BA-09B4-461B-B43D-E0C03F45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BC506-1567-474D-BBF7-E53B7658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8F19B4-8141-42B9-9D67-C954F894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ledger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B4C8D-A293-4271-9FAA-AE26A384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C769B2-918C-42D3-A181-7F64AA7B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INGEST + HASH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9B438-53F4-4939-AAEE-714D0E3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FA03BF-A0E0-4A21-BE1E-0643FAE0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2B9303-3042-4D91-AC20-D59C45D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05A3DA-75D4-46F5-9EBE-D2D8B779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RETRY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BA122-4621-4E55-A000-5F5A0BD0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E92FC-8273-47F8-8E11-BD8E1BC1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STATE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94CA7C-4CE0-484E-9E54-5E3C34F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0EA5B5-F8CF-4E9B-830F-16B8293E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PUBLISH 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6B80C1-BC95-44C8-940A-5B42F851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272230-89AD-4CC7-B164-E2A9523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OCR / STT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E4D2BA-91A9-411D-9ACB-18C241E2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C0F0C9-223D-44DF-B1A1-A65A1420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CLAIM 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0DB1F7-F5D1-4051-81C1-E0552FC1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E584F7-50DE-4352-AC9F-8CE15722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DA3A9B-16F9-429E-967F-71099A91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04949C-7EC5-4BE7-976E-6D72030C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TOP-k RETRIEVAL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6B3F91-4A41-40B2-8032-7FC71AA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95850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C72BC0-672F-4B46-BAA5-A14F6F9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NORMALIZE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25EEEA-ED47-4EED-9D0C-2521803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B6D81E-9DB5-495A-9128-9F1ECBBA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972308-D198-455A-A6BE-B7180479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SCORE S(p,c)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20C52F-E085-4CDD-A5DD-6CB7F1EE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34C0ED-FC60-44BD-A6D8-8020A533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87630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2DF0102-6EE1-430B-8F41-1C3F96AB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43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B9B1E"/>
                </a:solidFill>
              </a:defRPr>
            </a:pPr>
            <a:r>
              <a:rPr sz="1050" b="1">
                <a:solidFill>
                  <a:srgbClr val="DB9B1E"/>
                </a:solidFill>
              </a:rPr>
              <a:t>S ≥ τ?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5DE791-2054-4CED-A1DA-D2260B3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D7A106-F85F-4BFA-BF68-A360A871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F24690-775E-4FAB-95C3-1A140DE5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CONSTRAINTS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DE8939-1C9B-4109-A3D7-6DF8C11B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95BF19-7C3D-4FC0-9AB9-E27CB1CE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32222E-23BF-4AAA-9EF1-213CD92D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CLASSIFY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F1819F-7A53-4E8C-8545-03A72A4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72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F465B"/>
                </a:solidFill>
              </a:defRPr>
            </a:pPr>
            <a:r>
              <a:rPr sz="825" b="1">
                <a:solidFill>
                  <a:srgbClr val="DF465B"/>
                </a:solidFill>
              </a:rPr>
              <a:t>NO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FEFE84-0FDE-443C-AEE9-2BE8F5C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2498CB-E36C-432B-A789-E110F144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631058D-E3A2-4844-84DD-8B60A418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7215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15681B-B717-4001-85E9-31EACDD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197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ASK USER / UNVERIFIABLE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16E3EC-0E20-47B6-9C28-618698F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1E25D4-08DB-46CE-8AE4-6860D1F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B95089-820C-41AA-B34C-12EB9D5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85C0DB-B027-463A-A228-DB312F42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E12007F-0B38-40DB-B9C7-70A6A0A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DC2F8A-F52F-47AF-897F-3F2F2ED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911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DB25D0-ACFC-4F06-9C14-8E33041F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4355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E51CB2-C095-4D6B-A1ED-877E0519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Promise Ledger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5BE0AD-91CE-4B6F-9674-FF29016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71F973E-B86B-4508-84AB-119D2E00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150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 the promise and final bill → confirm only if needed → receive kept, changed, and missing terms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1852234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00073C-12B4-4EC9-86B5-72590DC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38B9B-37E2-42D9-A689-838C7831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04  • 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5C1F8-11DB-491C-923C-1F43B10D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3E17C-3DA2-4B92-96E2-D2C566D9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231AC-857D-46D8-A1E1-CF599CC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FIVE LAYERS KEEP THE USER EXPERIENCE SIMPLE WHILE THE COMPLEX WORK REMAINS TESTABLE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C19C9-71FF-4767-816B-B9725B87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Each layer has one job: capture, coordinate, understand, decide, and preserve proof—even without network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72A5E-D6CF-4625-A20F-994F9B11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29900" cy="3219450"/>
          </a:xfrm>
          <a:prstGeom xmlns:a="http://schemas.openxmlformats.org/drawingml/2006/main" prst="roundRect">
            <a:avLst>
              <a:gd name="adj" fmla="val 355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87C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3A84B-FA4F-4584-A8FA-CE3807AD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iQOO DEVICE TRUST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FED4C-EAA0-4D19-9919-F282E3A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56593-98BF-400C-A3DE-3EAAD86F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9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A8580-C11A-480C-97E4-BC8F8ABE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57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EAAB8-A733-41CE-B728-397DC76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B4684-4AF8-43CF-806C-C8E19A6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UI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EADF9-3AEF-4DA7-B0C3-22A3753B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8E8C4-0774-4C33-AD0E-C282053E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CaptureScreen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D05D6-06CA-4571-8DA5-E09A157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43A30-A0A3-4A82-8DD6-9FCD2E3D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ReviewScreen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1E4AC-9380-4306-B8CF-B933A228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00C2B-45D1-4D89-9CFA-352FD2D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LedgerScreen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0CF45-B780-48F0-9D64-73EB25F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DFC64-0C49-4DF1-943E-79C335C9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C66D5-2977-4DD7-A652-E9B1BCF2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PipelineCoordinator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62139-4AEC-4772-9FC4-742B6B7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2655D-2FFE-4B2C-A430-923343F4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CoroutineWorker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BBF00-6573-4832-A3DF-B5579A22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100FA9-6C2E-45A5-8A90-D2CA49F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UI state reducer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1882FE-2A34-4FD9-B692-9E937096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7F1D4C-94F5-488B-AB3D-F72B879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30EA5-2E4F-4688-BAFC-EFCB9D22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Bundled OCR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7FA344-8B37-4FB5-AF61-2A5B16B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F90342-1A4C-4DCC-8239-EA4971C3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Speech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6E7FD5-0A2A-4E1F-BBE3-AA18B22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36A0EB-66FA-49C3-9C4E-902C1201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LLM 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E92D62-959C-4E42-A881-8CF263D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13BBF5-7E66-491B-801B-F803537E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Embedding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5EE243-269A-4ED9-BCF9-22FC874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DOMAIN 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2ABA7F-5430-477B-A31A-8DAD12B1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01A9A1-1D08-41DB-991A-6C372F17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Canonicalizer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513456-B9C2-4355-9857-57684141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B653C-46CD-494E-9C5E-AC434D5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MatchEngine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9F7096-AABD-491E-B17E-764E2CF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4B900C-6032-4F85-BD26-A42E62A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ConstraintEngine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DFED7C-85C6-48AB-B83D-19241F7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C33F6E-9145-4EF6-8BB4-894B156F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CostEngine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B3995B-79DA-4E5D-8414-246608D5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DATA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87C30F-4D7B-4EEE-9D71-50D8E56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84C0EF-1C79-4095-A7CD-7F567D8A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846C6C-313F-4C36-B547-3A111C4F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681180-CAA8-4C47-83D1-7FE7159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85013C-3DFB-4353-96AC-46BB4C76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54B87F-5147-45A8-9BD8-9A24A497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3B7F1B-F94B-4084-9C50-84D570E1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53969A-E877-49AE-90AB-8D0646DD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DomainPack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F490E0-0BDF-48C5-AEF4-4B062A00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1704E95-8484-4358-A69A-25766B85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43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DEVICE / RUNTIME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3276AF0-64BD-4549-89B5-0E0D38F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CameraX  •  ML Kit OCR  •  QNN / NNAPI / CPU adapter  •  Android Keystore  •  Room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814196-3553-45A8-984D-D687F1BE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864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CBB508-7DC7-49C2-97E7-3B5243FC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341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</a:t>
            </a:r>
          </a:p>
        </p:txBody>
      </p:sp>
    </p:spTree>
    <p:extLst>
      <p:ext uri="{BB962C8B-B14F-4D97-AF65-F5344CB8AC3E}">
        <p14:creationId xmlns:p14="http://schemas.microsoft.com/office/powerpoint/2010/main" val="1904933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AE016F-1093-4A95-B2EF-4354C88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8727-142A-42F6-ABCA-C3BEF7E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05  • 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DCDF6-2634-42EC-A70A-F0CA906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9725B-F765-47D3-89CB-0DE233EE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BCDD0-613E-4C5B-9B70-5D9CA5F2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AI FINDS THE RIGHT CLAIMS; DETERMINISTIC RULES DECIDE THE MONEY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AD345-C89E-45F2-B04D-56C49851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This prevents a fluent model from inventing a contractual or financial conclusion.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772EA-182F-4095-B09D-6A0F4B0B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CLAIM-PAIR STATE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AC80-E0CC-431E-904B-F682A0AE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670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32B74-A534-4848-9D6B-950AC0B9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66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7185A-5B7E-4140-B0B1-D69696C7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052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45FCE-C870-41E5-8419-D21B5EB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D5516-ED47-4B71-A532-1A8942B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B5EA6-1ABF-4781-9142-6C75E4BC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40898-7A23-4185-8362-897BA78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05DE2-68CB-4F06-A34C-B790E7F2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B9B1E"/>
                </a:solidFill>
              </a:defRPr>
            </a:pPr>
            <a:r>
              <a:rPr sz="1800" b="1">
                <a:solidFill>
                  <a:srgbClr val="DB9B1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951F4-94B4-4075-8734-7E193928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FF55-1B9B-4460-8864-799B9DA7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2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A66A"/>
                </a:solidFill>
              </a:defRPr>
            </a:pPr>
            <a:r>
              <a:rPr sz="1800" b="1">
                <a:solidFill>
                  <a:srgbClr val="13A66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142E9-47F8-47E8-AEE7-082A9D39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57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3B60A-6D41-40B7-A1F3-FA6560E8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promise claim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20E24D-B254-4F76-B652-ACC4F039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C6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31D16-3397-4A60-A739-3B4517FC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max S(p,c) ≥ τ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CD7B43-21FB-44CF-8D4F-E2B8F2FB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B87EB-C857-4E56-952D-8E033F3D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evidence confidence ≥ γ 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3E0038-5180-47CC-B9E4-A7A88BD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DF585-C99B-4984-9382-E22641A2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constraints equivalent 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5ADF52-018A-424B-BDD5-83C3053E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1123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51F93-211F-4F44-AF74-3861DAAE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0C111-18B2-46AD-BD57-AFE7E81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viable final claim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2624DE-CB5D-463A-A770-0D84E0BD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D6AEF8-E89A-43EA-B1AF-DAB4454A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UNVERIFIABLE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EEDF8-AE8C-43F5-83D8-2A640BB6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386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request 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B79EDA-182A-4ACD-B6C0-957FCEC9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2C0C5-A341-4F34-B781-1E0F87EB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70900C-9567-4F3C-BE34-119B1D9A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76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value + conditions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25D75F-6C0E-4B13-8544-445A5D5B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constraint mismatch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00A590-168C-4C5E-BE21-B9632E65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4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3A31C2-AA11-4676-B1C1-DED1BD90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6DFB18-C72D-459B-808B-61E3EC2A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5312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CHANGED / CONTRADICTED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0DA0C4-B0C5-4967-A4ED-086AEB02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9814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876482-2AD8-49B2-8A54-6233757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CONFIGURABLE MATCH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3E9FD1-6FA5-49AC-BF92-8DE8286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S(p,c) =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09D4D-9A21-4285-98B4-BC56DDDE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3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0.35 semantic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+ 0.20 entity/value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condition overlap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temporal compatibility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source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F518F1-3176-479C-B693-C48EA34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BE7C0D-5CD9-46F6-9D29-28E1EF9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TRUE PAYABLE 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ADA98-57DF-4ED5-9D1D-430CDAD5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base price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explicit fees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financing cost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lost discounts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− confirmed benefits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BDD9EF-C5D8-4425-A5A3-AE75B764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5EA"/>
                </a:solidFill>
              </a:defRPr>
            </a:pPr>
            <a:r>
              <a:rPr sz="975" b="1">
                <a:solidFill>
                  <a:srgbClr val="DDF5EA"/>
                </a:solidFill>
              </a:rPr>
              <a:t>EXPLAIN(result)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9BE401-387F-4D97-9DEB-B1C4FBC9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482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status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evidence_ids[]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opposing_ids[]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calculation_steps[]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75AAF8-A23C-4406-BFA0-12803A4C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E9AEE7-3862-45A5-BAA1-FA5308DF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246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Low confidence → ask the user. Conflicting proof → show both sides. Matching terms → mark as kept.</a:t>
            </a:r>
          </a:p>
        </p:txBody>
      </p:sp>
    </p:spTree>
    <p:extLst>
      <p:ext uri="{BB962C8B-B14F-4D97-AF65-F5344CB8AC3E}">
        <p14:creationId xmlns:p14="http://schemas.microsoft.com/office/powerpoint/2010/main" val="1068256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FCEE6A-6976-46DF-9F1B-D39A863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99CAB-2333-4609-B49E-3B0537E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06  • 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C36F3-71D6-4F26-82DF-ACFB53BF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47C5A-3492-43DF-A717-FD400DBB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2A66D-C6FF-48D9-85EA-702845CA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 25-HOUR PLAN PRIORITIZES ONE COMPLETE MOBILE JOURNEY BEFORE MODEL SOPHISTICATION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16B1D-ED7C-4083-8B78-D07EC2F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Every risky dependency has a fallback, so the demo remains usable without cloud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7257F-8FD5-4163-9B94-88A9F02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RUNTIME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4514B-FE0F-48C4-A88D-16A72E1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2D7FC-9F68-492D-B900-BB35AC3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F9E2E-521D-4B46-9672-C429AD44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FAILURE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D9139-EA2F-4DC0-8C47-3702FEF5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C4ABB-79C0-40F5-899C-7C13F924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18102-2E18-4371-AAA0-B35D79C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Bundled ML 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D8A27-DBDD-46D1-83DB-734F6AF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manual crop +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4A6B4-A098-4093-B2B5-9C6CFA5C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never accept empty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38DC1-B070-4FC7-89A0-DEA4261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98F99-667B-4F6E-9893-536FE4B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Claim 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A35D-43D2-48C8-8CBE-A6CBEBAA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quantized local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BFACE-B1FB-4AE3-94A7-309A9AF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regex/schema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92FC5-72E1-437E-8F1C-97C91278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invalid JSON rejected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17492-A43F-49F5-8BD6-A3366489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8CFEF-BB53-4F86-BA14-6AC27CA9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715FC-E95D-4E78-ACC1-47763788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QNN / NNAPI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C7B04-467D-42FC-BF03-EB4DCC4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CPU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3F07F-7811-4598-A735-4BFB86F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vector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4EDCD-19C9-4E87-8258-35CB56E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CD541-3D87-4F2D-A9F9-107D21ED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Speech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E822A-94AB-4008-8EE2-DDB12A1C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604012-E751-4ED9-9CD3-7C6649F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typed 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294B86-A911-490A-A9B2-D04F4D6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explicit consent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73B7F-E0FA-4798-A321-3C993ED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E377E3-240A-44F9-88B7-E0AFDB29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A1E22F-D130-471E-8FA8-264172D1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Room + AES-GCM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F622AA-B3B1-483A-879A-7DD78011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in-memory demo vault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28D8A0-06DB-4ACB-9A61-16907260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hash every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720E7-6146-4C06-80E9-1641EFCD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25-HOUR ACTIVE BUILD WINDOW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09273E-5883-4C7A-8CF4-70ACFC21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63D7C7-E732-4686-AC69-81E5B3C7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11:00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3B4795-95C6-4D5C-B896-0A9157E7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16:00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5D3B63-1485-4D1A-A1AB-648E291F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22:00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FA8F3A-3D5D-4949-9238-79E7DE0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06:30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E33264-F8E7-42A2-A9BA-78AA39DF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12:00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14FDF1-CD2C-49F4-A377-BA6F6283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Vertical slice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C39CDB-DBE1-419A-B7F5-618EE113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53644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3A12E5-31BF-42DA-8FDD-DBF79661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OCR + parser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F122C0-0389-4190-BF71-5377429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752850"/>
            <a:ext cx="70104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FCA331-61C6-4AA6-90E8-6A13B59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Model package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456766-2B90-40E1-9D0E-119ACB23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171950"/>
            <a:ext cx="45110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66914F-4F68-4341-A0D2-DDF3B85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Verifier + 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3D9B59-DAA1-465C-9E00-E556F0DB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4591050"/>
            <a:ext cx="59740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71FABC-FF33-4972-882E-C627248D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Profile + harden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DF73A-66BE-4285-B7D3-7A0BCA75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10150"/>
            <a:ext cx="49987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407AFC-9DD3-4235-852E-5379D8C7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9DF299-97DA-43A7-86E0-52F66BD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721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RED  PHONE-FIRST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A03306-8B3C-483E-AF8C-3BFA388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F77DB4-2A1C-499B-A091-F6776DA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721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GREEN  BOTH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2DAA1B-9012-4DC7-AC40-8F14BEC6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000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F80F212-5E44-4DCF-B8F4-317E06C3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SECURITY + RELIABILITY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BFC2A1-683A-45DD-857E-907BE3F4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Keystore-managed key • no background recording • append-only audit • BigDecimal arithmetic • low-confidence fail-closed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E22096-D909-4A06-A9BD-CA3D007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3162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56A4DE-63DA-4FD2-8599-91706B6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98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  mirror • logs • test assets • remote input</a:t>
            </a:r>
          </a:p>
        </p:txBody>
      </p:sp>
    </p:spTree>
    <p:extLst>
      <p:ext uri="{BB962C8B-B14F-4D97-AF65-F5344CB8AC3E}">
        <p14:creationId xmlns:p14="http://schemas.microsoft.com/office/powerpoint/2010/main" val="7966629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10766A-73EB-4AE1-BD90-29A9F934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34AC0-9FDD-4762-8E95-47077369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07  •  CONCLUSION + 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BF26-29E7-406E-AF39-46234EE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CDB3-F053-438D-A9BC-D753760E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4ACB7-EB64-4BE5-B7C6-769855C8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DEALTWIN CAN EXPAND FROM EMI DEALS TO INSURANCE, LENDING, AND TELECOM WITHOUT REWRITING THE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1CD3B-641F-4434-B9BC-6639B1D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Why it can win: a useful phone-first product, transparent AI, and a clear path to many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995F9-72CC-4C9F-815B-87285439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PROTOTYPE QUALITY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D00C0-6BCA-4454-B161-115D86F0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53A7B-7C87-45A2-B2AA-FFA202E9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8831A-BDA8-4121-A809-018A3270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PASS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37517-AEF2-4B68-9BC0-2E8CA444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0F4F8-3F0E-40E3-91AA-4B075A9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A910D-1C02-4808-BBDA-F1F809F5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4 source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81111-4748-4D13-8AC1-2CDF58B0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hash + locator persisted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C875F-7565-466F-968C-CE3335C3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69B73-B697-4B83-BA95-29BEF62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9FF63-C3CD-433F-B081-D6C67EEF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scripted EMI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777D9-9E51-47E1-970B-8C054409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valid claim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74415-2952-45D5-84F2-F31212B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A2936-EE98-440F-B01A-241A037E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2057E-7D83-4AB8-A36A-ADAD539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kept/changed/missing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DCBA2A-ED7C-4FFF-A364-49FBA881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expected status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0AACF-130F-4F69-9904-7EC9CC28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99A91-2D37-4FD0-B9BB-2E287E59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Cost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1EC161-07D0-4C38-8F93-4B1E7D4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fee/discount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760E27-CF29-4B89-8EA3-2493B737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exact BigDecimal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00FF2-6119-4CFA-BEB5-AE24102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63F5A-CE0B-4287-B55C-1718E0F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9BB7B-6425-4C6F-B1FD-8DFDFDD9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9ABA83-9346-4658-883E-33DCC475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86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 raw uploads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46B3F-33CB-4E0D-9BD8-6D82AB3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DOMAIN-PACK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13950-BBE4-4482-BAB6-BC3E07C8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7CB6C-CFBD-4390-896E-A3D7C3C5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ontology.yaml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C8F0AB-E733-49AB-AE89-09D9886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7884E-DFBB-4CBD-BF7B-4E86E79B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3901A7-0194-4FF6-849F-04C6B1F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claim.schema.json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687928-3F18-46D8-BD69-D29E08D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426847-6D20-48D2-AC09-D07FD01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245490-72F2-4328-AAFA-B4686C9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rules.kts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031518-FFF8-436B-89EE-3294DE41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F49241-8C66-4CCE-AD72-118B604B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87D761-2F21-459C-88F3-D49B32F7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few-shot examples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15ECB7-8D6C-461E-A0A1-AE9D28BB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CE50A-CAED-4743-874C-2F76425A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764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E0B851-38C5-4646-9080-EE725EF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SAME ENGINE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5C4AD4-70CD-4DC9-A156-B897000E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90925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Claim parser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 graph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Constraint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Audit + explanation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87A16E-9CFF-4DEF-B5AF-B59DD312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Electronics EMI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E6B44-04C5-4790-97D9-FA969973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980D1B-0304-4880-9FCD-FB5A869B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Insurance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1155CF-D56A-4C22-BA4C-DF009DB3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343B37-D44A-4EB6-9594-B4EF772A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00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Lending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861664-E7CB-4524-BEF3-7F92D2A0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EA4814-17BF-4BE3-A49F-C9F63896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Telecom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A83908-51BF-4114-8CAF-308379C0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9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A09662-F51A-4618-B950-7C6139D4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WHY IT CAN WIN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D8A59B-7633-4132-9B64-3B34867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866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High-frequency consumer problem  •  measurable savings  •  traceable AI  •  reusable domain packs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D311C6-1CF9-46D9-9693-FD6B855F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EFF"/>
                </a:solidFill>
              </a:defRPr>
            </a:pPr>
            <a:r>
              <a:rPr sz="900" b="0">
                <a:solidFill>
                  <a:srgbClr val="DDEEFF"/>
                </a:solidFill>
              </a:rPr>
              <a:t>Rubric coverage: product quality • novelty • technical depth • phone use • Office Kit • demo</a:t>
            </a:r>
          </a:p>
        </p:txBody>
      </p:sp>
    </p:spTree>
    <p:extLst>
      <p:ext uri="{BB962C8B-B14F-4D97-AF65-F5344CB8AC3E}">
        <p14:creationId xmlns:p14="http://schemas.microsoft.com/office/powerpoint/2010/main" val="379332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535743-C515-4059-A63E-7B1AB82A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31F34-0606-455A-9DFD-C461B47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08  •  CLOSING + 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A4F5A-5E1A-41BD-9ADC-BE429B0C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D19E6-2601-4F18-8E74-1D4D6ED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2A559-C827-4875-9A0F-48172ED8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EEFF"/>
                </a:solidFill>
              </a:defRPr>
            </a:pPr>
            <a:r>
              <a:rPr sz="1950" b="1">
                <a:solidFill>
                  <a:srgbClr val="DDEEFF"/>
                </a:solidFill>
              </a:rPr>
              <a:t>A promise becomes defensible only when it is structured, verified, and linked back to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A11A2-4E7C-419A-927E-BEFE25A9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1911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D70BE-61EA-44BF-B3E1-2FC4FDE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LIVE DEMO PROVES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EF81B-DC8C-4284-B674-4172E3BA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02A5D-B631-494D-A246-9C94900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Capture an ad and an invoice on the phone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FA5EE-8654-49A7-89B3-8EFF5B1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E26BA-3C58-40AE-A5C9-E534C961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Build canonical claims locally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DCDA-DAC0-4950-9C8A-CFE2185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153C4-BA59-4EF6-BA5E-B5F4D68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Reconcile the promise with final terms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C7ACB-7846-460F-A84B-506AF55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6D533-F4EA-4411-B447-25CA04FA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Show ₹2,148 in added cost with source locators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49BF8-7DF1-4E6F-95A9-6226679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80F51-EFD2-463F-9745-659C4262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Generate a neutral clarification 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A496F-C05F-4C5D-9232-A0EB34B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429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6685E-515E-4D99-AD22-3318D780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QUESTIONS  •  ARCHITECTURE  •  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EF402-0002-47DE-BFB2-252816A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95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END-TO-END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CA450-43C2-4A24-87F5-6B65408D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8D155-04B7-454D-8A1D-B8072214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38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9DC79-1D0C-4165-A83A-EABEEDF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sha256 + source locator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BFB0E-B577-42F1-AB94-5E249D1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81AC6-C5AF-47E0-941A-5FB8552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520D6-809C-4D34-9668-D8686C2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90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BCDEE-483C-4D55-9AF0-A08FF3C3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typed value + condition + authority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FE9B2-0E74-4E35-8CD7-0B43A25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94FD83-4E2F-4D5B-BD2C-D506794F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6A972B-1354-4957-802B-8EE6886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89CB3-F9D9-4A57-A0D1-3F6492A1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retrieval → constraints → cost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32F895-9058-4426-ACFB-E5C68BA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BD62C-B7D6-432D-86DD-78EA9B78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D43586-47B1-4F0D-9B52-175B6BAD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553DF-7BBA-4504-B547-861FF11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status + explanation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A9BD32-21C4-4BC0-86F5-98F6FD5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9590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DB0CE7-833A-41CF-B4C0-CBED2BD0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578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DEFAULT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564B4-7CE2-4210-AF0B-BBD56B5A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evidence • deterministic cost • explicit uncertainty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2CFD3D-895B-4113-A0CB-BB6C5D4D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DealTwin  •  Remember the promise. Verify the deal.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503F45-A70C-4F08-B0CE-9AEA0AE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EFF"/>
                </a:solidFill>
              </a:defRPr>
            </a:pPr>
            <a:r>
              <a:rPr sz="900" b="1">
                <a:solidFill>
                  <a:srgbClr val="DDEE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1074789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2026-08-24T18:17:26.9800000Z</dcterms:created>
  <dcterms:modified xsi:type="dcterms:W3CDTF">2026-08-24T18:17:26.9800000Z</dcterms:modified>
</coreProperties>
</file>