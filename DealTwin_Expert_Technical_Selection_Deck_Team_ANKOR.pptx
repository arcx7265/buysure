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a2716f46b94fc4" /><Relationship Type="http://schemas.openxmlformats.org/officeDocument/2006/relationships/extended-properties" Target="/docProps/app.xml" Id="R678431584e194903" /><Relationship Type="http://schemas.openxmlformats.org/officeDocument/2006/relationships/officeDocument" Target="/ppt/presentation.xml" Id="R0d9025ea5c4e42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3fcb2fa232415a"/>
  </p:sldMasterIdLst>
  <p:notesMasterIdLst>
    <p:notesMasterId xmlns:r="http://schemas.openxmlformats.org/officeDocument/2006/relationships" r:id="R2e37f5d187e04aa6"/>
  </p:notesMasterIdLst>
  <p:sldIdLst>
    <p:sldId xmlns:r="http://schemas.openxmlformats.org/officeDocument/2006/relationships" id="256" r:id="R617947a026214754"/>
    <p:sldId xmlns:r="http://schemas.openxmlformats.org/officeDocument/2006/relationships" id="257" r:id="Rc97bb67207124221"/>
    <p:sldId xmlns:r="http://schemas.openxmlformats.org/officeDocument/2006/relationships" id="258" r:id="Raf835ee9fa9c4f7c"/>
    <p:sldId xmlns:r="http://schemas.openxmlformats.org/officeDocument/2006/relationships" id="259" r:id="Rae07a4f82bdd4fad"/>
    <p:sldId xmlns:r="http://schemas.openxmlformats.org/officeDocument/2006/relationships" id="260" r:id="R2803a476c92f40fb"/>
    <p:sldId xmlns:r="http://schemas.openxmlformats.org/officeDocument/2006/relationships" id="261" r:id="Rc793b14606624024"/>
    <p:sldId xmlns:r="http://schemas.openxmlformats.org/officeDocument/2006/relationships" id="262" r:id="Rc7fba47bc5fa4e11"/>
    <p:sldId xmlns:r="http://schemas.openxmlformats.org/officeDocument/2006/relationships" id="263" r:id="R09a458b9d76a4c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a8cb4db3c144c8" /><Relationship Type="http://schemas.openxmlformats.org/officeDocument/2006/relationships/slideMaster" Target="/ppt/slideMasters/slideMaster1.xml" Id="Rcc3fcb2fa232415a" /><Relationship Type="http://schemas.openxmlformats.org/officeDocument/2006/relationships/notesMaster" Target="/ppt/notesMasters/notesMaster1.xml" Id="R2e37f5d187e04aa6" /><Relationship Type="http://schemas.openxmlformats.org/officeDocument/2006/relationships/presProps" Target="/ppt/presProps.xml" Id="R95296fe3ea484671" /><Relationship Type="http://schemas.openxmlformats.org/officeDocument/2006/relationships/tableStyles" Target="/ppt/tableStyles.xml" Id="R789eab2d7ed5422c" /><Relationship Type="http://schemas.openxmlformats.org/officeDocument/2006/relationships/slide" Target="/ppt/slides/slide1.xml" Id="R617947a026214754" /><Relationship Type="http://schemas.openxmlformats.org/officeDocument/2006/relationships/slide" Target="/ppt/slides/slide2.xml" Id="Rc97bb67207124221" /><Relationship Type="http://schemas.openxmlformats.org/officeDocument/2006/relationships/slide" Target="/ppt/slides/slide3.xml" Id="Raf835ee9fa9c4f7c" /><Relationship Type="http://schemas.openxmlformats.org/officeDocument/2006/relationships/slide" Target="/ppt/slides/slide4.xml" Id="Rae07a4f82bdd4fad" /><Relationship Type="http://schemas.openxmlformats.org/officeDocument/2006/relationships/slide" Target="/ppt/slides/slide5.xml" Id="R2803a476c92f40fb" /><Relationship Type="http://schemas.openxmlformats.org/officeDocument/2006/relationships/slide" Target="/ppt/slides/slide6.xml" Id="Rc793b14606624024" /><Relationship Type="http://schemas.openxmlformats.org/officeDocument/2006/relationships/slide" Target="/ppt/slides/slide7.xml" Id="Rc7fba47bc5fa4e11" /><Relationship Type="http://schemas.openxmlformats.org/officeDocument/2006/relationships/slide" Target="/ppt/slides/slide8.xml" Id="R09a458b9d76a4c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9e5ff1fbf342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f3ae8d37954241" /><Relationship Type="http://schemas.openxmlformats.org/officeDocument/2006/relationships/notesMaster" Target="/ppt/notesMasters/notesMaster1.xml" Id="R39b33c07521b4d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df6e65d77c4c71" /><Relationship Type="http://schemas.openxmlformats.org/officeDocument/2006/relationships/notesMaster" Target="/ppt/notesMasters/notesMaster1.xml" Id="R8084c4a3279946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814d47aa0d4197" /><Relationship Type="http://schemas.openxmlformats.org/officeDocument/2006/relationships/notesMaster" Target="/ppt/notesMasters/notesMaster1.xml" Id="Rbe186148a69a4b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fd68efa69748d9" /><Relationship Type="http://schemas.openxmlformats.org/officeDocument/2006/relationships/notesMaster" Target="/ppt/notesMasters/notesMaster1.xml" Id="Rb9474fc1655d48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fb70cdf54146dd" /><Relationship Type="http://schemas.openxmlformats.org/officeDocument/2006/relationships/notesMaster" Target="/ppt/notesMasters/notesMaster1.xml" Id="Rbedf7ba12e0441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df3d29552e4055" /><Relationship Type="http://schemas.openxmlformats.org/officeDocument/2006/relationships/notesMaster" Target="/ppt/notesMasters/notesMaster1.xml" Id="Rd8d12d6d313848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ac2540466349ca" /><Relationship Type="http://schemas.openxmlformats.org/officeDocument/2006/relationships/notesMaster" Target="/ppt/notesMasters/notesMaster1.xml" Id="Ra8ce725977fa4c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951d4bb1a84162" /><Relationship Type="http://schemas.openxmlformats.org/officeDocument/2006/relationships/notesMaster" Target="/ppt/notesMasters/notesMaster1.xml" Id="R2344dbdc140f48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cb1abac654c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7c7718de2b4d83" /><Relationship Type="http://schemas.openxmlformats.org/officeDocument/2006/relationships/slideLayout" Target="/ppt/slideLayouts/slideLayout1.xml" Id="R4df968fccb7b45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f968fccb7b45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dd196e2704004" /><Relationship Type="http://schemas.openxmlformats.org/officeDocument/2006/relationships/notesSlide" Target="/ppt/notesSlides/notesSlide1.xml" Id="R5caf7934db2647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953b2eab24f76" /><Relationship Type="http://schemas.openxmlformats.org/officeDocument/2006/relationships/notesSlide" Target="/ppt/notesSlides/notesSlide2.xml" Id="Re66ccd18142a4b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d8e988f2c4424" /><Relationship Type="http://schemas.openxmlformats.org/officeDocument/2006/relationships/notesSlide" Target="/ppt/notesSlides/notesSlide3.xml" Id="Re89b657a7c4246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f112a48674e48" /><Relationship Type="http://schemas.openxmlformats.org/officeDocument/2006/relationships/notesSlide" Target="/ppt/notesSlides/notesSlide4.xml" Id="R1a693719bd1c46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b6a4745094581" /><Relationship Type="http://schemas.openxmlformats.org/officeDocument/2006/relationships/notesSlide" Target="/ppt/notesSlides/notesSlide5.xml" Id="R9b00dd025ee747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0ba0105a445b5" /><Relationship Type="http://schemas.openxmlformats.org/officeDocument/2006/relationships/notesSlide" Target="/ppt/notesSlides/notesSlide6.xml" Id="R1056da8274c14f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a3a866a55434a" /><Relationship Type="http://schemas.openxmlformats.org/officeDocument/2006/relationships/notesSlide" Target="/ppt/notesSlides/notesSlide7.xml" Id="Rd3848df817c942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e8d26b7254a85" /><Relationship Type="http://schemas.openxmlformats.org/officeDocument/2006/relationships/notesSlide" Target="/ppt/notesSlides/notesSlide8.xml" Id="R940ecf4cc08f4c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A10863-742A-4C39-B459-07F5F7C9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iQOO HACKATHON 2026  •  TECHNICAL SELECTION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9257A-4BD4-4CC2-9298-F452B128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0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EFF"/>
                </a:solidFill>
              </a:defRPr>
            </a:pPr>
            <a:r>
              <a:rPr sz="975" b="1">
                <a:solidFill>
                  <a:srgbClr val="DDEEFF"/>
                </a:solidFill>
              </a:rPr>
              <a:t>TEAM ANKOR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9C332-F392-4F0C-AED0-566EA99A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DealTwin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759E3-19C9-4585-B7DE-2F226388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DEEFF"/>
                </a:solidFill>
              </a:defRPr>
            </a:pPr>
            <a:r>
              <a:rPr sz="1875" b="1">
                <a:solidFill>
                  <a:srgbClr val="DDEEFF"/>
                </a:solidFill>
              </a:rPr>
              <a:t>An on-device evidence graph that verifies whether the final deal still matches the promise.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9D953-5C9D-4B61-898C-A6F62051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D2E7"/>
                </a:solidFill>
              </a:defRPr>
            </a:pPr>
            <a:r>
              <a:rPr sz="1200" b="0">
                <a:solidFill>
                  <a:srgbClr val="51D2E7"/>
                </a:solidFill>
              </a:rPr>
              <a:t>Local extraction + hybrid claim matching + deterministic financial constraints + source-linked explanation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C027F-8688-498D-AA7E-39E79984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2571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B7DAC-CA84-433F-B8C5-C175F2A7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0425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MVP  ELECTRONICS / NO-COST EMI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FDF53-8A6E-4257-B282-BF17C3FC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52800"/>
            <a:ext cx="26479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BCC7D-27B3-436B-A5B8-40CCF639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0042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DEFAULT  ZERO RAW-DOCUMENT 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44B26-EA97-4AC5-9C00-E930358B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24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40EB4-E0C1-4C8C-AC05-AE372F9B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24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CFC4E-9F43-494B-A00E-401EA42B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24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2989C-947B-46EB-9E95-84FEBC54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048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SYSTEM AT A GLANCE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28E1A-636A-4F45-8FFB-C94DBE06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12858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404A0-93CE-43C2-9201-ACD83C78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533525"/>
            <a:ext cx="11334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5673B-B696-4B58-AF84-1D89B073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4785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camera • audio •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B62C3-B26A-4A33-8115-1F7039DE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81125"/>
            <a:ext cx="12858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C0C3C-CCDC-463F-9853-83070FF5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33525"/>
            <a:ext cx="11334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CLAIM GRAPH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B3437-F1C9-435F-B1CB-383014CA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85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typed + provenance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EC14A-BD8A-405C-A02B-86F04194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381125"/>
            <a:ext cx="1238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2E3B8-216D-4042-BB24-7CDEC65D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533525"/>
            <a:ext cx="1085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VERIFIER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AA598-670C-4B2E-B7F1-E4C88516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478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rules + true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E7B8B-688E-4A44-90FF-F2948E6D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381125"/>
            <a:ext cx="933450" cy="10096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4DE6F-3520-41ED-8402-C7A8C47D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533525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LEDGER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174B4B-23A9-4F4C-8ACE-5897CD6E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478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status + sources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33B42B-1CC8-4F48-A4E5-E12A38BB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28900"/>
            <a:ext cx="5457825" cy="1019175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0D2A49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F8E723-A777-473A-A337-5A0E0946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98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NOVELTY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B75E6B-8E17-4D41-9188-71D3C532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3952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The model never decides the payable amount or hides uncertainty.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874AA2-9094-468F-81B1-1F2A024A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33725"/>
            <a:ext cx="4905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Low-confidence evidence becomes UNVERIFIABLE; every other status carries supporting and opposing evidence IDs.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89CD3-5C01-4EE1-B9EC-7CFD56BE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1125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D379DC-B806-408C-82F9-BD188577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01  CANONICAL CLAIMS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A5BE7C-1E12-48C5-BF8D-1A08CD71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price • fee • tenor • benefit • condition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D86B4D-EEFC-4049-B061-ED0812DF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EFF"/>
                </a:solidFill>
              </a:defRPr>
            </a:pPr>
            <a:r>
              <a:rPr sz="975" b="0">
                <a:solidFill>
                  <a:srgbClr val="DDEEFF"/>
                </a:solidFill>
              </a:rPr>
              <a:t>schema-constrained 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777B90-E7BA-49F8-920E-B8D8EB1C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62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02  HYBRID MATCHING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27E9FB-7209-44B7-847F-862479F1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8630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embedding retrieval + entity constraints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A924A9-52EB-4CF0-9166-95E592FB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81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EFF"/>
                </a:solidFill>
              </a:defRPr>
            </a:pPr>
            <a:r>
              <a:rPr sz="975" b="0">
                <a:solidFill>
                  <a:srgbClr val="DDEEFF"/>
                </a:solidFill>
              </a:rPr>
              <a:t>top-k → weighted alignment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095BCA-4BC9-420C-BE3C-C2AF8535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03  DETERMINISTIC CORE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64E4B8-B8E2-4E4D-A3E2-BA5F37B8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BigDecimal cost engine + rule packs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88E6A3-E9B6-4F59-AAA6-8C60072A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81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EFF"/>
                </a:solidFill>
              </a:defRPr>
            </a:pPr>
            <a:r>
              <a:rPr sz="975" b="0">
                <a:solidFill>
                  <a:srgbClr val="DDEEFF"/>
                </a:solidFill>
              </a:rPr>
              <a:t>repeatable verdicts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2564D4-C5C3-40B3-B561-9019B65F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62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B9B1E"/>
                </a:solidFill>
              </a:defRPr>
            </a:pPr>
            <a:r>
              <a:rPr sz="1050" b="1">
                <a:solidFill>
                  <a:srgbClr val="DB9B1E"/>
                </a:solidFill>
              </a:rPr>
              <a:t>04  DOMAIN-PACK SCALE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6E86DD-A249-478D-B00E-5CB3AB19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ontology + extraction schema + rules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ABEE3B-A4AB-4152-B694-76D5376E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181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EFF"/>
                </a:solidFill>
              </a:defRPr>
            </a:pPr>
            <a:r>
              <a:rPr sz="975" b="0">
                <a:solidFill>
                  <a:srgbClr val="DDEEFF"/>
                </a:solidFill>
              </a:rPr>
              <a:t>new sector, same engine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3918ED-721A-4EDB-9612-47C65CEF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12585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2745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39005A-E93B-498D-9DAC-F6E72CA7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PHONE-FIRST  Capture → infer → verify → explain on the iQOO loaner device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CF0E0B-AB4A-4F4C-B5AB-584A7A51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05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1D2E7"/>
                </a:solidFill>
              </a:defRPr>
            </a:pPr>
            <a:r>
              <a:rPr sz="1125" b="1">
                <a:solidFill>
                  <a:srgbClr val="51D2E7"/>
                </a:solidFill>
              </a:rPr>
              <a:t>OFFICE KIT  bridge for profiling, logs and test assets</a:t>
            </a:r>
          </a:p>
        </p:txBody>
      </p:sp>
    </p:spTree>
    <p:extLst>
      <p:ext uri="{BB962C8B-B14F-4D97-AF65-F5344CB8AC3E}">
        <p14:creationId xmlns:p14="http://schemas.microsoft.com/office/powerpoint/2010/main" val="506887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B3D8E91-B1DA-4FF8-A506-8DD984B4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C83B7-D03C-4AB6-901A-5F78ACB4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EVIDENCE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29FF9-7B33-45E0-B19C-331DDE1B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FE563-70B0-4D62-A243-4D344934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740EC-451E-45DA-AA9A-8A1EC867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NOT A DOCUMENT LIST—A TEMPORAL, TYPED 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53F6B-4958-479D-9846-58B09E57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DealTwin resolves the same commercial concept across sources, timestamps and authority levels.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0A55B-7041-494F-A34E-D7C2C522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289"/>
                </a:solidFill>
              </a:defRPr>
            </a:pPr>
            <a:r>
              <a:rPr sz="1275" b="0">
                <a:solidFill>
                  <a:srgbClr val="5E7289"/>
                </a:solidFill>
              </a:rPr>
              <a:t>Vertices preserve provenance; edges encode SUPPORTS, CONTRADICTS, SUPERSEDES and DERIVED_FROM relationships.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134AA-D41A-4353-B856-AD93F38C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t₀  PRE-COMMITMENT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5A1B5-BD6C-4868-8A7D-31023351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479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62D9"/>
                </a:solidFill>
              </a:defRPr>
            </a:pPr>
            <a:r>
              <a:rPr sz="975" b="1">
                <a:solidFill>
                  <a:srgbClr val="7C62D9"/>
                </a:solidFill>
              </a:rPr>
              <a:t>CANONICAL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9C9F4-E137-4069-979C-82114F40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479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t₁  FINAL 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58D46-AF79-4B5F-B467-4DED2E0C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4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VERDICT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465D6-45FB-4450-BFB7-19471ADB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62BBA-0EF9-4D40-A712-E6031945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00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30288-29C5-4D77-8E52-DE91178F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3337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EC2A0-5CCE-4ACD-958C-0801159C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2D9"/>
                </a:solidFill>
              </a:defRPr>
            </a:pPr>
            <a:r>
              <a:rPr sz="1800" b="1">
                <a:solidFill>
                  <a:srgbClr val="7C62D9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3D26B-CB1B-4342-9AE4-80A8AB07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EFDAA-D5A8-4405-A373-BB044047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00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289"/>
                </a:solidFill>
              </a:defRPr>
            </a:pPr>
            <a:r>
              <a:rPr sz="1800" b="1">
                <a:solidFill>
                  <a:srgbClr val="5E7289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A311D-2E0B-4E61-866F-EFCE46D9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814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A6971-A5ED-4434-AA5F-C48E023B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48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E2468-FEB9-4A70-B119-AA88BFD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9814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472B9-4C36-42A5-B318-53404BD8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2D9"/>
                </a:solidFill>
              </a:defRPr>
            </a:pPr>
            <a:r>
              <a:rPr sz="1800" b="1">
                <a:solidFill>
                  <a:srgbClr val="7C62D9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74B621-321F-4AD5-A5C8-3782B619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814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186F10-29DC-4D13-881F-CBE1A97F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48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289"/>
                </a:solidFill>
              </a:defRPr>
            </a:pPr>
            <a:r>
              <a:rPr sz="1800" b="1">
                <a:solidFill>
                  <a:srgbClr val="5E7289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EE8D2F-45EE-4406-A85D-A8C66D08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291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6F53F-1BDA-4F5D-8974-5FAD26EE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95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32D99B-4C4B-4BD5-9DF6-4A22ECCC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6291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6188C5-495B-430F-B988-6479A0D9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2D9"/>
                </a:solidFill>
              </a:defRPr>
            </a:pPr>
            <a:r>
              <a:rPr sz="1800" b="1">
                <a:solidFill>
                  <a:srgbClr val="7C62D9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8FFE1F-7687-4164-AFD1-55FBEB83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291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C19AF-E582-4A93-AFCE-17AB41BA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95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289"/>
                </a:solidFill>
              </a:defRPr>
            </a:pPr>
            <a:r>
              <a:rPr sz="1800" b="1">
                <a:solidFill>
                  <a:srgbClr val="5E7289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3FE76C-D158-45C7-80CA-CCE7CAF1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768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692D2-B69E-4436-97F8-D341F3A2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43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BC6F3A-7A18-4790-AC2B-E1DB2583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2768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405195-D607-49E5-A694-F9A1290A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2D9"/>
                </a:solidFill>
              </a:defRPr>
            </a:pPr>
            <a:r>
              <a:rPr sz="1800" b="1">
                <a:solidFill>
                  <a:srgbClr val="7C62D9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D4019F-3A8E-4727-B55E-CE2BAF16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768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8FEDBC-2669-42B3-9919-0C8BA245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143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289"/>
                </a:solidFill>
              </a:defRPr>
            </a:pPr>
            <a:r>
              <a:rPr sz="1800" b="1">
                <a:solidFill>
                  <a:srgbClr val="5E7289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E6E7D2-7A21-4F56-8BA8-86EDB5D5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8CE3AF-4839-4E54-922E-B74B1F7E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B81E8C-72A4-4DA1-A79C-4F7B0C7C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Ad screenshot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CD6B15-A078-4CD6-89AB-0495A592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no-cost EMI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2E86E2-349E-4812-81CD-32FC999E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099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642262-615A-4AC8-94FD-4ED0C162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099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BAD5E6-5C1E-47D4-BAF8-348B1F1A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1242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financing_cost = 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C62809-FB86-47AD-B2C8-DEBD4E89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813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source_rank: seller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918B3B-4AAF-4786-95CB-F8B365B6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F60002-426C-4A7C-957A-55F1014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3A692B-80BC-4C70-98D6-887B8511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242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Invoice §4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3977EE-9A98-49CC-B5DD-EC7FA497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813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processing_fee = 999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08ADBA-11E7-46EB-8168-7AEF1BB4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14675"/>
            <a:ext cx="10668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42C9F-FABC-46A4-BA99-9556D064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385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F465B"/>
                </a:solidFill>
              </a:defRPr>
            </a:pPr>
            <a:r>
              <a:rPr sz="975" b="1">
                <a:solidFill>
                  <a:srgbClr val="DF465B"/>
                </a:solidFill>
              </a:rPr>
              <a:t>CHANGED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F8DFED-9DF9-4FAD-9690-4CF7DDAA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81350"/>
            <a:ext cx="1095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DAD7A7-216D-494B-B756-5079A2F9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289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CONTRADICTS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D7434B-5453-4947-BBDA-5989D179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7BA4BE-EC0A-4DD5-BCD5-35C130C6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983B24-A140-4965-BB1F-F36F93E6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Consented audio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8F4126-3314-4F28-80C7-0E471F46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free insurance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8FB2DA-475B-4869-88CA-80F92A95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6576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5E462C-B1D2-4780-8463-C501BE21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6576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322A1F-2B51-4A50-B811-677C8A81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719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insurance.benefit = FREE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FBDECA-7E72-4DCC-A9AA-2244918E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0290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source_rank: seller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A5384E-F481-438D-8ABD-45111F2F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576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454A66-4716-4A22-8E27-C65F1B1A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576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23A7C6-9A2C-4625-B4F8-BEDAFB03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719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Invoice + KFS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8FF223-85B5-4F26-8EAB-04AE3D0F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290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 policy reference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BBB311-10E1-42F3-9F8D-98A94FC7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62375"/>
            <a:ext cx="10668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FD053F-F41B-45C9-A04A-6DB1C3D8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8862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F465B"/>
                </a:solidFill>
              </a:defRPr>
            </a:pPr>
            <a:r>
              <a:rPr sz="975" b="1">
                <a:solidFill>
                  <a:srgbClr val="DF465B"/>
                </a:solidFill>
              </a:rPr>
              <a:t>MISSING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0103763-9242-4AD6-9A89-875AF573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29050"/>
            <a:ext cx="1095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BCC562-EE4E-42B4-9B5D-36066DBF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766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9B1E"/>
                </a:solidFill>
              </a:defRPr>
            </a:pPr>
            <a:r>
              <a:rPr sz="900" b="1">
                <a:solidFill>
                  <a:srgbClr val="DB9B1E"/>
                </a:solidFill>
              </a:rPr>
              <a:t>NO MATCH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1CC7C2-39D7-4E3E-9B99-39ED6283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36AA13-CB58-4289-BD6F-C28E4615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D85589A-3787-44E9-A67F-AB1A8829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Seller chat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5D1E5A2-3C3C-4AD7-98BB-446D7107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2-year warranty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AAFEA97-A64B-4026-9A4F-987F881A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3053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7C846CA-D841-432C-A6F2-85744801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3053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2E7F99C-E7D6-4F22-B847-FC014512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96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warranty.months = 24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BF86AB-E621-4412-88F3-8BAD0AC5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767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source_rank: seller+card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6341DAE-9FBF-4FC6-9491-0E18B915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0656AB8-E9DE-496B-9CE1-CE915B01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931511-D84D-45C2-9927-EBD2CCC8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196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Warranty card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C9CDDFB-3C76-48B8-8A09-58C20E60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767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coverage = 24 months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4CC3AEC-798F-49AC-9A07-7EE560C3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10075"/>
            <a:ext cx="10668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553EBCD-8FF1-471C-8700-4AA17C21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339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KEPT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4EB01DA-0E13-4F5A-B25D-0379C00B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76750"/>
            <a:ext cx="1095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A70F837-A7D4-4526-A62B-EBCE6A8C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243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SUPPORTS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9702A3-44CC-4AB8-B193-7FD0D356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DD270DB-6387-43DA-A35C-0840A180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80AFBA-D52F-4C24-AE51-923F379E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Product listing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EFD0FD2-5DB6-432C-84E5-4FAAB5F2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cash price = ₹50k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6D119ED-760C-4976-B37D-CFDA753A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9530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0AAB42B-2DFE-4249-9C3C-320CFF1B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9530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8B1245-5EDE-450C-939B-7BBE669C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0673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payable.base = 50000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B3E31A7-8150-45EF-BEE0-BC3D5140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3244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source_rank: seller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0043D27-50F6-46D0-ACD1-BCE3D93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530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769888B-F553-46EB-80BC-4C62B506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530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699BC78-15A3-420A-8092-1F0B468E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673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KFS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4529776-CB6C-4EBC-9D22-F47B7A80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3244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cash discount loss = 1149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C1F0588-FE92-41B3-B1DB-BC5DD11B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057775"/>
            <a:ext cx="10668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62D5CFA-7711-4DBF-9031-03F600EA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1816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F465B"/>
                </a:solidFill>
              </a:defRPr>
            </a:pPr>
            <a:r>
              <a:rPr sz="975" b="1">
                <a:solidFill>
                  <a:srgbClr val="DF465B"/>
                </a:solidFill>
              </a:rPr>
              <a:t>CHANGED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1087A93-F31B-4FA0-8182-664B216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24450"/>
            <a:ext cx="1095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2184B54-CED4-4D26-A560-30191D71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720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DERIVES COST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27ABEC2-8BF0-4B82-A222-FB8A4EC5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6108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1C86198-9983-4515-B6D4-49379A63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721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FORMAL MODEL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F9D5EEC-0E52-4476-9007-06CF6F42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943600"/>
            <a:ext cx="8810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 = (Evidence ∪ Claims ∪ Results, Relations)  •  append-only audit events  •  SHA-256 evidence fingerprints</a:t>
            </a:r>
          </a:p>
        </p:txBody>
      </p:sp>
    </p:spTree>
    <p:extLst>
      <p:ext uri="{BB962C8B-B14F-4D97-AF65-F5344CB8AC3E}">
        <p14:creationId xmlns:p14="http://schemas.microsoft.com/office/powerpoint/2010/main" val="273991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8264491-BC9A-4B65-A223-C6B37B0B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E139F-2074-411F-A2F1-3C6F35A9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PROCESSING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09F52-9679-4940-B6F9-36E9C8E4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EDFFA-E70F-4713-B8D9-A25B0B33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93012-17D4-4A70-B849-140CF406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THE PIPELINE BRANCHES ON CONFIDENCE, EVIDENCE AVAILABILITY AND RULE CONSISTENCY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D79B7-2CC7-4134-A7CA-E6E04646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A human confirmation path prevents plausible-looking model output from becoming a false contractual conclusion.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40894-7DAE-4E8C-B762-FCA83313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USER /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99835-6577-46DE-A55E-FC49CDE8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956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25867-9776-4D2A-9EE3-3C754A46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PIPELINE COORDINATOR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65AF0-6552-45B7-9977-CF557ED2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6BFA7-7DB8-4F6F-BA20-0929D052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62D9"/>
                </a:solidFill>
              </a:defRPr>
            </a:pPr>
            <a:r>
              <a:rPr sz="975" b="1">
                <a:solidFill>
                  <a:srgbClr val="7C62D9"/>
                </a:solidFill>
              </a:rPr>
              <a:t>LOCAL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E53ED-A450-4554-B2FA-210ACF75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910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A18B1-EC26-4B9D-9518-FA04FCA4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VERIFICATION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35D5C-8B45-4BD9-98E4-09E0A069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387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561D8-243C-4B66-A939-13039B97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DATA +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810B6-C03B-4F70-8F7C-AE4CCF66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864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A2CE2-A4F7-424B-8EB7-B74577E1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CA5BD-F9C9-4742-B143-5915725D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B165B-815D-4649-8E23-395899EB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9714B-27C0-4B7A-A6B3-B2C29A12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FB296-999C-43A5-A78A-60F658A2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5E2B1-726E-475C-BA9A-4BCA682B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CAPTURE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28B3C-3D0C-411E-A003-1C96CCDA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camera / share / file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CF1B67-D353-40AF-8B73-B2287B01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50090-7873-4A46-93E8-838E86AA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CONSENT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A5B55D-8354-4DA5-AAA6-6E19C336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audio opt-in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3F62D5-E4DC-4D9B-8DE1-6AFB1033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424E7D-D6B2-4EEE-A50A-DD90B5CB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0139C7-18DF-4347-9AA8-209CE822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crop + source type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B8B8BE-EDFC-440C-91B7-ED7F658E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D4E363-DD77-46C2-BFED-BAEEA14F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PROCESS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379559-87B6-446E-8175-45962BD1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start local job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0DFAED-B12D-409B-8AA1-4F5672EB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5A8BA8-13AB-4C2B-9C2D-CA954FB8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RESULT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DFDBC-01C8-4714-A8BF-293490D6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ledger +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1ED002-59D5-438F-8DC6-0B760FB0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4C5CBE-224C-41A5-A649-4C0A6B20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INGEST + HASH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C200ED-7E64-4E10-89E1-1073BFDB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0DEE7D-41E9-4FD3-B4AE-609E5683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SCHEDULE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256074-5D55-487C-9729-75681051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4B61AA-2876-4CF4-A4FC-B5751B37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RETRY POLICY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4D5429-9533-454A-A1CF-4A8D8518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9EFB7D-B802-4409-B31B-4A7B4F7F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STATE MACHINE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C1FFC5-30A8-429C-901A-701EE363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7A4325-4C61-4F37-AAEA-AEE21CA1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PUBLISH EVENT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28D529-AB18-4DA1-A769-3E083ED4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3F13DC-69B0-4F9A-8515-26365AF9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OCR / STT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0D1411-25A0-46C3-B15F-2458E15F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FB93C3-D665-42F7-89E8-540A48C2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CLAIM JSON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11437C-6FCA-4B79-80F0-28B0BE50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06D2F2-139B-4FB9-B644-638A830A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EMBEDDINGS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0E3308-80D0-4D23-8BCC-BD2C0FA8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2E6C74-7046-4BAB-AF7B-64AF16E3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TOP-k RETRIEVAL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5EE9C8-8F91-4CAF-8E7D-AD6EB6D5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95850"/>
            <a:ext cx="12858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01A92A-1FBE-4F16-8926-4A620AAD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43475"/>
            <a:ext cx="1133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NORMALIZE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F5CE2F-5F50-489B-8C14-1BFB543C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AB14C22-C4FB-4B4D-9DC2-BAB6C8E8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958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F17B9E-9D67-4FB1-BC68-A35559E9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434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SCORE S(p,c)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C6A3BE-6C6B-49E2-A849-BCD8BAF8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8D5855-322F-41C4-AD92-9F8C54BE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62500"/>
            <a:ext cx="876300" cy="552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D2"/>
          </a:solidFill>
          <a:ln xmlns:a="http://schemas.openxmlformats.org/drawingml/2006/main" w="9525">
            <a:solidFill>
              <a:srgbClr val="DB9B1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00EECD-1EB5-41FC-8FCC-A1EA7737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434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B9B1E"/>
                </a:solidFill>
              </a:defRPr>
            </a:pPr>
            <a:r>
              <a:rPr sz="1050" b="1">
                <a:solidFill>
                  <a:srgbClr val="DB9B1E"/>
                </a:solidFill>
              </a:rPr>
              <a:t>S ≥ τ?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5DBE6B-5A8E-43A4-B776-A5E12813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815A21-B294-4FED-A2D5-CF6A44F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58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1169A1-E315-4DE8-A1B6-89E1B31F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434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CONSTRAINTS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15E3C0-13FE-43A5-8EE4-F0A3AD63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052FEE-92F1-45DB-967F-1475F656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78780D6-D1DE-40DC-B951-1952553D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434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CLASSIFY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B86E5B-0B93-4613-AF16-4931DE42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72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F465B"/>
                </a:solidFill>
              </a:defRPr>
            </a:pPr>
            <a:r>
              <a:rPr sz="825" b="1">
                <a:solidFill>
                  <a:srgbClr val="DF465B"/>
                </a:solidFill>
              </a:rPr>
              <a:t>NO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ABED16F-3D70-49F1-BFB0-F848FDEF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6375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EA5A47-BF6E-42AC-98DA-95AEFC01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05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465B"/>
                </a:solidFill>
              </a:defRPr>
            </a:pPr>
            <a:r>
              <a:rPr sz="1800" b="1">
                <a:solidFill>
                  <a:srgbClr val="DF465B"/>
                </a:solidFill>
              </a:rPr>
              <a:t>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E53307F-FAA4-4422-A531-2E886DC7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72150"/>
            <a:ext cx="2000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33DC86A-CE69-4251-9F1B-475CA817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1977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9B1E"/>
                </a:solidFill>
              </a:defRPr>
            </a:pPr>
            <a:r>
              <a:rPr sz="900" b="1">
                <a:solidFill>
                  <a:srgbClr val="DB9B1E"/>
                </a:solidFill>
              </a:rPr>
              <a:t>ASK USER / UNVERIFIABLE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7178AF3-5A6A-4E36-9E05-89C1AE6F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43550"/>
            <a:ext cx="1333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BEFB7C3-B5F3-4D22-AA0B-718CFC5D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5911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EvidenceStore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2096D70-EDBD-4261-B19B-D4DB2950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543550"/>
            <a:ext cx="1333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397101D-6F09-45A1-B043-8B7CCE5A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911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ClaimGraph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F1127B2-CE93-4727-8871-49370D89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43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5347094-DD59-47DB-9822-A53FBFB7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5911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AuditLog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33B0C79-DA95-452D-A4BE-738596B2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43550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1EC3618-69C0-41D9-A293-52BB0933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Promise Ledger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ACF6E9D-4CC0-46A7-B918-2E747B18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All transitions are persisted; reopening the app resumes from the last completed stage.</a:t>
            </a:r>
          </a:p>
        </p:txBody>
      </p:sp>
    </p:spTree>
    <p:extLst>
      <p:ext uri="{BB962C8B-B14F-4D97-AF65-F5344CB8AC3E}">
        <p14:creationId xmlns:p14="http://schemas.microsoft.com/office/powerpoint/2010/main" val="1206057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FA8DF4-10CB-4A0B-ABD3-B74EB91F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91304-4255-401F-ACC8-0E7253A4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COMPONENT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ED3DA-5BBF-40A7-9C72-24499DC4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9C16C-308D-4D7D-82A2-20D4208F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2BEB4-F15F-490D-ADE8-A6199741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FIVE LAYERS SEPARATE UI LIFECYCLE, INFERENCE, BUSINESS RULES AND EVIDENCE 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01D21-6C1F-49C4-BAE1-87D2D0C3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The same domain core remains testable without Android, a model runtime or network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E85FD-EAAC-4CC7-A951-E6B448AF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29900" cy="3219450"/>
          </a:xfrm>
          <a:prstGeom xmlns:a="http://schemas.openxmlformats.org/drawingml/2006/main" prst="roundRect">
            <a:avLst>
              <a:gd name="adj" fmla="val 355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87C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68FA5-3462-4846-934D-3A663192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iQOO DEVICE TRUST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05F08-04CD-45CB-B2B4-10B391E8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81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167B0-7284-426C-B6B9-79F3AD8D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195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3D1A7-E783-49AB-8B03-655D73BA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4577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D65E1-B551-4C83-A4BC-503393A1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9587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58AE4-4D6D-4A31-99B1-70749E80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UI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6F69D-2239-4EFA-BA35-A936C36D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0375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86541-F5EA-42BE-A56F-E1C034A5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14675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CaptureScreen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3F0A1-6602-41C9-9605-4DF2B626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000375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B1033-0930-4D3B-89E3-5BDCCE44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114675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ReviewScreen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1042E-A625-479B-BF67-62566429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000375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4976B-228E-4F06-A0FA-7E99A714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114675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LedgerScreen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33B3A-A800-44E2-AD7B-985CFC62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F9515-D354-4CA7-9081-1FF2E43E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38550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B6204-BB1D-4149-AAB6-A098BB71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52850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PipelineCoordinator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534C4-F545-4D76-945A-BB5E34A0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38550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9AA81-935D-4DE1-B0DC-F404BD4F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752850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CoroutineWorker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5220F7-EA09-4439-AAC4-04B7BAF5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353EF-74CF-4037-8A22-C797F7F0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752850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UiState reducer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01911D-DE2E-4D33-AD5F-B5387977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62D9"/>
                </a:solidFill>
              </a:defRPr>
            </a:pPr>
            <a:r>
              <a:rPr sz="975" b="1">
                <a:solidFill>
                  <a:srgbClr val="7C62D9"/>
                </a:solidFill>
              </a:rPr>
              <a:t>INFERENCE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0EE76E-B898-43AF-B4E0-3097CAE2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E316AC-9B33-42C6-966C-8907F4E2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Bundled OCR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536E84-C266-49F2-8937-246D88F5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9F175E-E03A-4F62-8DD5-C5E499EE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Speech adapter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3D4FAD-6789-4772-B8A6-ED4F58B2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FF4D9D-78A0-4957-B53D-79CB1652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LLM parser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EB7155-C3EE-481F-9D48-EBEE16AD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02142B-DD76-4D6F-A6A5-624B270E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Embedding 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E87D6D-0963-45DA-B84F-BA8AC1CB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DOMAIN 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4DACC9-D58D-478A-B53A-C99E889D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541691-009A-45E9-929D-FF03267C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Canonicalizer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A08D2-DD8A-4AE1-90AF-D95D0C48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9E526D-FE36-43B7-B2CA-472395E2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MatchEngine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A6F275-86EB-4E51-8926-58FFB1AD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2F5DC0-EE46-4292-AAF4-7B0387B3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ConstraintEngine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E3953C-B915-4F6A-B9DC-A2C54FD1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DE2219-52B5-49ED-9093-56C64415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CostEngine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B74F19-D505-4828-9B5C-C7F89D30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B9B1E"/>
                </a:solidFill>
              </a:defRPr>
            </a:pPr>
            <a:r>
              <a:rPr sz="975" b="1">
                <a:solidFill>
                  <a:srgbClr val="DB9B1E"/>
                </a:solidFill>
              </a:rPr>
              <a:t>DATA LAYER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4295E1-76D8-409C-9984-66050FA4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13A323-1654-4DAC-9E04-122C66F9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EvidenceStore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9F0841-B5D0-4071-AEA5-B91D74E7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3DDCA0-E633-4143-A899-605CEAB2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ClaimGraph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B0D1E7-4766-4E0B-970C-09FAC28D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3298BD-AE7C-4710-87E6-E7BB24D0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AuditLog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8203C1-1DBC-4FED-AC8E-A85A0291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4A7CD3-0D6D-4B92-8112-13F46783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DomainPack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32C0A0-82E7-4CB6-A3B5-876D24D8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29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4D1801-2B75-47CE-AE88-8775F313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436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1D2E7"/>
                </a:solidFill>
              </a:defRPr>
            </a:pPr>
            <a:r>
              <a:rPr sz="900" b="1">
                <a:solidFill>
                  <a:srgbClr val="51D2E7"/>
                </a:solidFill>
              </a:rPr>
              <a:t>DEVICE / RUNTIME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17F3F5-D741-4355-BB1C-052F0211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CameraX  •  ML Kit OCR  •  QNN / NNAPI / CPU adapter  •  Android Keystore  •  Room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E42E57-E7F6-4693-8FDE-704D225B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8647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9F47B9-63A4-448E-B03B-021EA77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341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OFFICE KIT</a:t>
            </a:r>
          </a:p>
        </p:txBody>
      </p:sp>
    </p:spTree>
    <p:extLst>
      <p:ext uri="{BB962C8B-B14F-4D97-AF65-F5344CB8AC3E}">
        <p14:creationId xmlns:p14="http://schemas.microsoft.com/office/powerpoint/2010/main" val="1601757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E4ADE8-CA19-4C05-B5E1-F193CE58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55FEA-8BFF-4F61-94FF-BBB4DF59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DECISION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8E399-0D6B-4D87-B64A-15D0F3FC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1E589-2303-4A84-84FA-BA901253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A8D04-C3CB-4F59-A848-A5BB9072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THE FINAL STATUS IS A STATE-MACHINE OUTPUT, NOT AN LLM OPINION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FB0E8-BCEF-4B33-9951-C2B8A1D8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Retrieval narrows candidates; typed constraints and evidence authority produce the verdict.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65F6A-91DF-4197-934C-187DD8CA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CLAIM-PAIR STATE MACHINE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7914D-9A42-47D8-B5AC-5A05246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6707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E5043-6FAF-4128-BEAC-A368761B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66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34A50-6976-42CB-8416-73A963FA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0527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EFEF8-0E64-437F-B023-AAFF8D73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148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20AB8-86C4-4FE2-8584-D5CD5E7C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D9E00-857A-4D41-B0DD-10E1BCF6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52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465B"/>
                </a:solidFill>
              </a:defRPr>
            </a:pPr>
            <a:r>
              <a:rPr sz="1800" b="1">
                <a:solidFill>
                  <a:srgbClr val="DF465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2A36D-8F02-4E35-B353-1BF23A93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244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50A5D-EACB-4485-9CBC-A54779B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91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B9B1E"/>
                </a:solidFill>
              </a:defRPr>
            </a:pPr>
            <a:r>
              <a:rPr sz="1800" b="1">
                <a:solidFill>
                  <a:srgbClr val="DB9B1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BF6D2-940B-4C79-B6C8-CFF9B3E5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626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ADC97-EA16-496B-AEAE-9E5319A0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429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A66A"/>
                </a:solidFill>
              </a:defRPr>
            </a:pPr>
            <a:r>
              <a:rPr sz="1800" b="1">
                <a:solidFill>
                  <a:srgbClr val="13A66A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6EDEC-33DD-40AF-B8FD-402116E9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2057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15A1A-0CE0-43A8-BD38-9FC8AA6D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promise claim 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3FC5D-996A-47C1-A0AA-C3873B58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20574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7C62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1FFDB-D903-4B42-941F-CB5DEB06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814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max S(p,c) ≥ τ 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EC38C-4946-4F31-8EEB-907CF29C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20574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D2"/>
          </a:solidFill>
          <a:ln xmlns:a="http://schemas.openxmlformats.org/drawingml/2006/main" w="9525">
            <a:solidFill>
              <a:srgbClr val="DB9B1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6871E-CA1D-4B22-B8D1-E61C27CD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B9B1E"/>
                </a:solidFill>
              </a:defRPr>
            </a:pPr>
            <a:r>
              <a:rPr sz="975" b="1">
                <a:solidFill>
                  <a:srgbClr val="DB9B1E"/>
                </a:solidFill>
              </a:rPr>
              <a:t>evidence confidence ≥ γ 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A59E0-F4BA-4751-A274-0AC9E587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20574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13A6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873FBA-C190-4B25-865B-AE7FFF57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578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constraints equivalent 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62AA9C-AB72-46FD-A3ED-FBAF1B22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52850"/>
            <a:ext cx="11239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FDBA4-00AA-4077-82CA-B3D85FAE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MISSING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BFE0D-D6D1-4D2D-93CE-4583979A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800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 viable final claim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776A1D-F892-49A4-B744-A5E6710A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10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9E7653-B9C2-4EF1-A534-325E3A8E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9B1E"/>
                </a:solidFill>
              </a:defRPr>
            </a:pPr>
            <a:r>
              <a:rPr sz="900" b="1">
                <a:solidFill>
                  <a:srgbClr val="DB9B1E"/>
                </a:solidFill>
              </a:rPr>
              <a:t>UNVERIFIABLE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93842F-F224-45F5-8B29-954B241B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386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request confirmation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38103B-CAB8-4FFF-8E02-52A25F1F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29250"/>
            <a:ext cx="952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FE6567-FCEA-45A9-910C-5E934CEB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KEPT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43DB7B-4F67-4019-B31D-8A3B6C36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76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same value + conditions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58FE5B-440C-4FE7-BF6B-2E8E2695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912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constraint mismatch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338C44-A6A0-454E-87A0-49713AD6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943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465B"/>
                </a:solidFill>
              </a:defRPr>
            </a:pPr>
            <a:r>
              <a:rPr sz="1800" b="1">
                <a:solidFill>
                  <a:srgbClr val="DF465B"/>
                </a:solidFill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68CF00-41F0-4AC5-B610-8A814DED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055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FEAFEA-B2A1-4017-A1B8-CB413D9C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953125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CHANGED / CONTRADICTED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162E67-B0A3-4812-9EB7-D3D7C911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3981450" cy="35052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877CA1-1961-4387-8628-0126C434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CONFIGURABLE MATCH SCORE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C079D4-B16E-4A7E-920F-EB039E88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S(p,c) =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939866-FE7E-4411-A22A-8173645B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223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0.35 semantic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+ 0.20 entity/value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+ 0.15 condition overlap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+ 0.15 temporal compatibility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+ 0.15 source authority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A88C9C-A17F-4B05-B9F9-014C33CA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00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A71EF3-A343-417C-8DE5-7978B95E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91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TRUE PAYABLE COST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C65CC5-646A-452D-8473-30BD52C2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958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base price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explicit fees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financing cost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lost discounts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− confirmed benefits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6C5B36-FC0F-46CE-9305-B1056BBD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05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F5EA"/>
                </a:solidFill>
              </a:defRPr>
            </a:pPr>
            <a:r>
              <a:rPr sz="975" b="1">
                <a:solidFill>
                  <a:srgbClr val="DDF5EA"/>
                </a:solidFill>
              </a:rPr>
              <a:t>EXPLAIN(result)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FDF5E6-BB59-4B0E-8068-199C58FA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482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status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evidence_ids[]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opposing_ids[]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calculation_steps[]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C580B4-EB7B-4F32-A45A-2DB36760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Weights are prototype configuration—not claimed empirical optima.</a:t>
            </a:r>
          </a:p>
        </p:txBody>
      </p:sp>
    </p:spTree>
    <p:extLst>
      <p:ext uri="{BB962C8B-B14F-4D97-AF65-F5344CB8AC3E}">
        <p14:creationId xmlns:p14="http://schemas.microsoft.com/office/powerpoint/2010/main" val="2145445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B686A0-89FB-4C55-865C-F6F5BB49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137E0-E3A2-4B9C-BA4B-D7E818B3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IMPLEMENTATION +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AFC5B-F5A1-468C-803B-2BB773E7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CC039-4BCC-40B5-81D2-A5B12303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24420-BB32-4099-BD24-4B40CF31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THE BUILD ISOLATES RISKY INTEGRATIONS BEHIND ADAPTERS AND PROTECTS THE DEMO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0A609-9973-445F-9577-C2FA8845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Phone-first work delivers a complete vertical slice; Green Light time packages models, profiles and hardens fallbacks.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5B1BC-EB2C-4023-9C25-EF55AE77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RUNTIME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C2D99-30B6-45C7-81C3-6F3674F9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PRIMARY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459C4-DDD6-47FC-BFCF-B1E5D280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289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19131-5B57-43CC-9BDB-174C3C24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28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FAILURE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29F74-C00E-4F99-A9E5-4BD85A4C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B81A5-AB78-4F06-A710-2532B066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OCR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C01D2-92B7-4C1E-B864-6337328F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Bundled ML Kit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86E06-0A6C-4654-8F7B-4788C40B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90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manual crop + retry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993EC-BDD1-4A1A-B137-600FE0BD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90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 silent empty 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07FD3-D802-4B6F-806D-9EBF32B2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142D9-EE03-4D2F-8FB9-11F95826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Claim parser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6507D-64FE-4DA8-A8AD-3D6AD566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671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quantized local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F57F5-07BC-4D95-B364-A1CC1828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67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regex/schema parser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673CD-1626-4C9C-8074-D36022D9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67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invalid JSON rejected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70951-E43D-4BCB-A415-9DAD8E51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1B2A8-7DF5-4DFA-BCD8-A93AB850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Embeddings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771A7-CC16-470E-B8BF-F0A3A851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433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QNN / NNAPI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1E20F8-48AE-427B-9330-2EA4007E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433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CPU execution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63DAC1-059A-4D95-987B-4E370919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43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same vector interface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2CFA3F-E98A-4024-8A0B-C8965ABA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4E6939-F9F1-4A56-ADA8-2B85633B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Speech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FAC8A0-FB9E-46CC-94C4-0C7A5B3C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96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offline adapter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59ACA-A08A-4794-AFE1-4EE8B731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19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typed confirmation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C24AA0-5596-4036-8FEE-31CEB97B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19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explicit consent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FB4D59-A718-420C-BE72-C0B03100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A9352-C3B8-472D-B2E1-CA8E34E7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Storage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4CA15F-4870-45BE-B250-C214F670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Room + AES-GCM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1C33A4-6BD5-4EF1-BF5A-FB0D3A4D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95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in-memory demo vault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CD0E92-B5F8-4D9E-B45B-35A7AF1F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95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hash every artifact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CF250D-A413-456A-A3A5-A2390446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25-HOUR ACTIVE BUILD WINDOW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F1899A-57BF-48A9-A7DE-34C2CE24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16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6663D4-7226-4A30-B67A-FDE901A9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11:00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5E9D24-F5A8-418A-9EDA-BF9972A6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16:00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802707-296A-4967-AD4B-A09D0F02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22:00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801262-5DAD-4DFC-ADBD-8C7A9189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06:30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5EB67E-A662-47F7-8887-5CF8B8F6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12:00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22E405-C37B-4BF6-A2C6-641FBB2B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Vertical slice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125632-C3B5-4E45-A7DA-E0EFFEE6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536448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7F3E81-F56E-46C7-A112-58FC1F2F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OCR + parser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181601-D7F3-4FF2-A896-EE7E9496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3752850"/>
            <a:ext cx="70104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7A6B5B-03DA-4A98-BCE0-A0C312F0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Model package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090950-D24F-491E-B16B-EEC37C95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490" y="4171950"/>
            <a:ext cx="451104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08EAC0-AF06-4361-B761-482F8FFD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Verifier + vault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38D8F4-0366-484A-99EE-51B80760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810" y="4591050"/>
            <a:ext cx="597408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71EB61-ECDB-4E5D-A6A4-C7BBB3AA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Profile + harden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FADBD9-FB5B-4E48-BA39-5E107F69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010150"/>
            <a:ext cx="499872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7923DE-13E9-4013-A63C-28A4E000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ED801EF-BA63-4A21-B8F6-54DA3BC1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7212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RED  PHONE-FIRST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361C6B-253C-4BC3-9BA5-4398DB7B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7BF619-CD85-4479-9BD5-30238EDE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7212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GREEN  BOTH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2424C6C-8474-444D-A699-52B1CF18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000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457791-C413-4A75-875C-B3215B83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SECURITY + RELIABILITY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156448-892C-492D-86E5-F71974B9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77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Keystore-managed key • no background recording • append-only audit • BigDecimal arithmetic • low-confidence fail-closed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7A3EDA-24C7-42C7-B8AB-46483C5D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24550"/>
            <a:ext cx="3162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50B50A-FA58-4B7C-BD6D-89151ADC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19800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OFFICE KIT  mirror • logs • test assets • remote input</a:t>
            </a:r>
          </a:p>
        </p:txBody>
      </p:sp>
    </p:spTree>
    <p:extLst>
      <p:ext uri="{BB962C8B-B14F-4D97-AF65-F5344CB8AC3E}">
        <p14:creationId xmlns:p14="http://schemas.microsoft.com/office/powerpoint/2010/main" val="1911763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35AF6F-AA46-4F45-B07F-2E562262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E68FE-1FCB-4530-AEA2-AE74A680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0C6BF-A316-4559-858E-D3B58EA6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44FE0-0301-4965-A464-AF725C26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0BB6C-D5C2-4E21-80F5-F7CC75F8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SELECTION CONFIDENCE COMES FROM TRACEABILITY, FAILURE HANDLING AND REPEATABLE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7057D-59C0-485C-87EA-B2DC8822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DealTwin scales through domain packs while the reconciliation engine and audit model remain unchanged.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5A05B-38F2-45B0-A249-7DF2EAE7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PROTOTYPE QUALITY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7A8BF-C111-4E0C-B2D5-DA5C3F0D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0A583-DF74-4ABE-B1A6-22A91F95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33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FIXTURE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CBE9B-26E1-4744-A31B-34E316DF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33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PASS CONDITION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5900B-8F8A-4990-B775-443B2CA1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53286-58AB-4B0A-8853-75991FE9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Ingestion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43650-660A-452C-B836-2A554D19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575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4 source types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62DE8-CBC0-480C-BFE6-F6146D15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57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hash + locator persisted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BDA6D-31CD-406B-B36E-0ABBEEA3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8175A-4089-429F-AC89-C9E032E9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Extraction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498C7-1215-4D24-A0C2-F4C3324A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14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scripted EMI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00D71-F1B1-4EDE-BC7A-B4559CEA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14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valid claim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BFA14-236C-49A7-8BE4-DC5E16D6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E86D7-3794-4EDD-AD42-0FF282FE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Matching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B0ADB-8B2C-42F4-AB4E-7F6626C4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719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kept/changed/missing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099CC-1314-44B5-81C8-A1CA2CED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71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expected status +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EEC94-A063-4E8A-ABFB-A971B073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B7E200-E810-4655-91EE-BD7483B6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Cost 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E75EE7-801E-443E-8B21-B53C0909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291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fee/discount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B412B-46D6-443C-8209-E91C886F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29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exact BigDecimal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2BE2D-C5F2-470E-A4C2-753D9CC5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1031E-3C28-42E2-93B0-C276BAE5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Privacy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D75F83-1609-4FBA-920D-00CBBE92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86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offline default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071C1C-AC27-4224-B758-7F048D8F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86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0 raw uploads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15744F-8AE2-4FDF-9A88-1428DA90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DOMAIN-PACK INTERFACE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FC888E-28F8-4B14-8C74-3DBAADB6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EC9275-C015-40AC-943E-FB2A4B26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242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ontology.yaml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613239-1863-4B40-A904-42B9FD65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BB3377-2FE2-4854-8714-918A3E2B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D4E1B0-3D39-4C86-B6C1-C41B1772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claim.schema.json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87E082-2621-4385-AC30-83C853D6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0D2F12-4BC2-4D96-B482-BE9A5663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B1D84E-9835-4F93-BA42-44B5BB7E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529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rules.kts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86C034-673C-4758-B3EB-EDD92F4B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FB93D1-2D64-4384-AAE9-E79D5EDE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F931D5-46CD-4BE0-B0F8-20C15F88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672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few-shot examples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DD4D76-8CD1-4B46-8166-83364C20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291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EED7BF-06AD-4963-9EB8-03E78A3B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20764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9B0A16-915E-4210-BBFE-36469E6B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3850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SAME ENGINE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BE99AA-7113-4A9C-82BA-B68B9FCB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90925"/>
            <a:ext cx="1657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Claim parser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Evidence graph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Match engine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Constraint engine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Audit + explanation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999613-3C36-4178-A37D-4BE41B78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006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Electronics EMI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F90526-9BD4-43B2-B11A-0C526422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53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D8A113-5E96-417E-A99E-A7615FCB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006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Insurance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161951-4843-46C6-B58B-C79E29B1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153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36E064-115F-403E-ACB5-2919463B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2006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Lending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F2A926-2CD9-42E1-A05E-9B34B817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153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4C0752-F1F8-4456-A486-956B5D8E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006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Telecom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75AE21-3D4B-46D3-825B-ED550407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6299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969206-D62B-4AE1-B0C9-D3E6D25E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RUBRIC FIT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986651-3914-433F-939C-0C6CDD82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7692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30 Product quality  •  20 Novelty  •  15 Technical depth  •  15 Phone use  •  10 Office Kit  •  10 Demo</a:t>
            </a:r>
          </a:p>
        </p:txBody>
      </p:sp>
    </p:spTree>
    <p:extLst>
      <p:ext uri="{BB962C8B-B14F-4D97-AF65-F5344CB8AC3E}">
        <p14:creationId xmlns:p14="http://schemas.microsoft.com/office/powerpoint/2010/main" val="3092421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1C41EC-B165-451B-8E6B-B18E5C8C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BC072-7C7B-415B-A3B8-1BD8727B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957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EFF"/>
                </a:solidFill>
              </a:defRPr>
            </a:pPr>
            <a:r>
              <a:rPr sz="975" b="1">
                <a:solidFill>
                  <a:srgbClr val="DDEEFF"/>
                </a:solidFill>
              </a:rPr>
              <a:t>iQOO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B282B-11E6-4E48-8FBA-0CDA3981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B67D3-E608-4C83-B6A0-FA0869D7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DEEFF"/>
                </a:solidFill>
              </a:defRPr>
            </a:pPr>
            <a:r>
              <a:rPr sz="1950" b="1">
                <a:solidFill>
                  <a:srgbClr val="DDEEFF"/>
                </a:solidFill>
              </a:rPr>
              <a:t>A promise becomes defensible only when it is structured, verified and linked back to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376A9-CA53-41BA-B7E4-02EA0F03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5191125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2A49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5BE65-E588-473F-9AA7-C6A18649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WHAT THE LIVE DEMO PROVES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1518D-231E-4860-92E3-6FC5484B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14BBD-EB9A-4555-A46C-8E4968F8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385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Capture ad + invoice on the phone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C3060-0351-4955-8A29-BFAB3A32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0A8B5-31E4-480D-BAED-1081DBAE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Build canonical claims locally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47650-F6FE-448D-AE82-97AA8FA3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A1949-0962-4DE6-A810-A11058C9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3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Reconcile promise against final 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DE48B-D1B0-42DB-A7CC-31992A7C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67DFF-7FA7-4C66-8B97-255FC9C4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Show +₹2,148 with source locators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DC460-0D05-4F2E-B3FE-79C6C94A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641BD-0A44-4FD2-BF01-48170C1A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Generate neutral clarification card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B62A3-E5B3-40C9-9643-15BE3EF5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3429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02B05-898C-4AE3-BF67-B8AAD6CF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QUESTIONS  •  ARCHITECTURE  •  LIVE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8A2D4-6087-467C-8DCF-E0743C9A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895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END-TO-END 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179C7-5898-4F4A-B5D4-94D4EEC8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144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A1ED3-0456-4BC4-954E-368D77C7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382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F75AC-8093-45BD-BF63-AF2F3D0E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382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sha256 + source locator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8C558-C743-4523-898C-3A1ADC04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62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8AF72-A765-4835-86C9-9E9A2F2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8208C6-567F-401B-8841-73F28EAA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907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CLAIM GRAPH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036B66-626B-49DC-B5CC-40094640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907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typed value + condition + authority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569C8-EF53-4698-9262-ED324FA8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14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F7123F-C20F-4B03-BED8-EA65CCDA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706F6F-44FF-41CC-9C2D-94B564D7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432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VERIFIER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48F81-720F-4F31-8972-6517E66D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432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retrieval → constraints → cost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5E17A5-2E91-4FD4-B3FE-8B730A7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67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ED116D-8BCE-4774-80A8-E6123399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D0EF0B-16D3-4BE6-90E1-5E6C7B79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957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LEDGER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962530-A33A-49BB-80B6-D04B635F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957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status + explanation +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1ECF9F-21DC-4BD9-AFA0-7D4B99B9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95900"/>
            <a:ext cx="476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2745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8BD40D-18C7-454A-95F3-ADB96444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578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1D2E7"/>
                </a:solidFill>
              </a:defRPr>
            </a:pPr>
            <a:r>
              <a:rPr sz="900" b="1">
                <a:solidFill>
                  <a:srgbClr val="51D2E7"/>
                </a:solidFill>
              </a:rPr>
              <a:t>DEFAULT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788B27-A90C-493B-BE19-FC6D369C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2925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local evidence • deterministic money • fail-closed uncertainty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579F6B-5E00-4E4E-825A-539F4B96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388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DealTwin  •  Remember the promise. Verify the deal.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D93F1A-4707-42CF-9BFE-375FA557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EFF"/>
                </a:solidFill>
              </a:defRPr>
            </a:pPr>
            <a:r>
              <a:rPr sz="900" b="1">
                <a:solidFill>
                  <a:srgbClr val="DDEEFF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588695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2026-08-24T17:06:59.4560000Z</dcterms:created>
  <dcterms:modified xsi:type="dcterms:W3CDTF">2026-08-24T17:06:59.4570000Z</dcterms:modified>
</coreProperties>
</file>