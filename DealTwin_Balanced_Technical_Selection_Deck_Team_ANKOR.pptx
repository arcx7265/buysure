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646720cd884706" /><Relationship Type="http://schemas.openxmlformats.org/officeDocument/2006/relationships/extended-properties" Target="/docProps/app.xml" Id="Rb1ea22cb0cb94657" /><Relationship Type="http://schemas.openxmlformats.org/officeDocument/2006/relationships/officeDocument" Target="/ppt/presentation.xml" Id="R734ae01f2b0945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bc2aed0e0c48c3"/>
  </p:sldMasterIdLst>
  <p:notesMasterIdLst>
    <p:notesMasterId xmlns:r="http://schemas.openxmlformats.org/officeDocument/2006/relationships" r:id="R9cc1bf0eb70d42f5"/>
  </p:notesMasterIdLst>
  <p:sldIdLst>
    <p:sldId xmlns:r="http://schemas.openxmlformats.org/officeDocument/2006/relationships" id="256" r:id="R24e136b7d41d4157"/>
    <p:sldId xmlns:r="http://schemas.openxmlformats.org/officeDocument/2006/relationships" id="257" r:id="R45a6159343744b29"/>
    <p:sldId xmlns:r="http://schemas.openxmlformats.org/officeDocument/2006/relationships" id="258" r:id="Reee0f316a0d447ad"/>
    <p:sldId xmlns:r="http://schemas.openxmlformats.org/officeDocument/2006/relationships" id="259" r:id="Rd5cb466f5a964d3f"/>
    <p:sldId xmlns:r="http://schemas.openxmlformats.org/officeDocument/2006/relationships" id="260" r:id="R0448065fa0374336"/>
    <p:sldId xmlns:r="http://schemas.openxmlformats.org/officeDocument/2006/relationships" id="261" r:id="Ra0b229fdf4824e49"/>
    <p:sldId xmlns:r="http://schemas.openxmlformats.org/officeDocument/2006/relationships" id="262" r:id="Re1e95b162eca438a"/>
    <p:sldId xmlns:r="http://schemas.openxmlformats.org/officeDocument/2006/relationships" id="263" r:id="R5f2cd266d50542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aae64a4a91463d" /><Relationship Type="http://schemas.openxmlformats.org/officeDocument/2006/relationships/slideMaster" Target="/ppt/slideMasters/slideMaster1.xml" Id="R0bbc2aed0e0c48c3" /><Relationship Type="http://schemas.openxmlformats.org/officeDocument/2006/relationships/notesMaster" Target="/ppt/notesMasters/notesMaster1.xml" Id="R9cc1bf0eb70d42f5" /><Relationship Type="http://schemas.openxmlformats.org/officeDocument/2006/relationships/presProps" Target="/ppt/presProps.xml" Id="Re79f9ff22f0748ea" /><Relationship Type="http://schemas.openxmlformats.org/officeDocument/2006/relationships/tableStyles" Target="/ppt/tableStyles.xml" Id="Rf79cbd5c01554457" /><Relationship Type="http://schemas.openxmlformats.org/officeDocument/2006/relationships/slide" Target="/ppt/slides/slide1.xml" Id="R24e136b7d41d4157" /><Relationship Type="http://schemas.openxmlformats.org/officeDocument/2006/relationships/slide" Target="/ppt/slides/slide2.xml" Id="R45a6159343744b29" /><Relationship Type="http://schemas.openxmlformats.org/officeDocument/2006/relationships/slide" Target="/ppt/slides/slide3.xml" Id="Reee0f316a0d447ad" /><Relationship Type="http://schemas.openxmlformats.org/officeDocument/2006/relationships/slide" Target="/ppt/slides/slide4.xml" Id="Rd5cb466f5a964d3f" /><Relationship Type="http://schemas.openxmlformats.org/officeDocument/2006/relationships/slide" Target="/ppt/slides/slide5.xml" Id="R0448065fa0374336" /><Relationship Type="http://schemas.openxmlformats.org/officeDocument/2006/relationships/slide" Target="/ppt/slides/slide6.xml" Id="Ra0b229fdf4824e49" /><Relationship Type="http://schemas.openxmlformats.org/officeDocument/2006/relationships/slide" Target="/ppt/slides/slide7.xml" Id="Re1e95b162eca438a" /><Relationship Type="http://schemas.openxmlformats.org/officeDocument/2006/relationships/slide" Target="/ppt/slides/slide8.xml" Id="R5f2cd266d50542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fb5a1a114c44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3b1cfbb4e74c83" /><Relationship Type="http://schemas.openxmlformats.org/officeDocument/2006/relationships/notesMaster" Target="/ppt/notesMasters/notesMaster1.xml" Id="R7eb591c847714f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b1e74357e54106" /><Relationship Type="http://schemas.openxmlformats.org/officeDocument/2006/relationships/notesMaster" Target="/ppt/notesMasters/notesMaster1.xml" Id="R00f5d0270bcc4e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cf2623e9744f84" /><Relationship Type="http://schemas.openxmlformats.org/officeDocument/2006/relationships/notesMaster" Target="/ppt/notesMasters/notesMaster1.xml" Id="R4c854baeab094e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96377fdd0246c9" /><Relationship Type="http://schemas.openxmlformats.org/officeDocument/2006/relationships/notesMaster" Target="/ppt/notesMasters/notesMaster1.xml" Id="Red515958ec8f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16f3d5fa454e58" /><Relationship Type="http://schemas.openxmlformats.org/officeDocument/2006/relationships/notesMaster" Target="/ppt/notesMasters/notesMaster1.xml" Id="R6a786e79933747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7a699033d34d4c" /><Relationship Type="http://schemas.openxmlformats.org/officeDocument/2006/relationships/notesMaster" Target="/ppt/notesMasters/notesMaster1.xml" Id="R80031b7adabc4f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6186aa930846f0" /><Relationship Type="http://schemas.openxmlformats.org/officeDocument/2006/relationships/notesMaster" Target="/ppt/notesMasters/notesMaster1.xml" Id="R41bf14e782104c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fc9a2718084fac" /><Relationship Type="http://schemas.openxmlformats.org/officeDocument/2006/relationships/notesMaster" Target="/ppt/notesMasters/notesMaster1.xml" Id="Rdb5a39014da341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a53bdefa941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e231abf03148ea" /><Relationship Type="http://schemas.openxmlformats.org/officeDocument/2006/relationships/slideLayout" Target="/ppt/slideLayouts/slideLayout1.xml" Id="Rfe0e511e771242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0e511e771242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87298287e4897" /><Relationship Type="http://schemas.openxmlformats.org/officeDocument/2006/relationships/notesSlide" Target="/ppt/notesSlides/notesSlide1.xml" Id="Re33a06dcd849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3de248eea487c" /><Relationship Type="http://schemas.openxmlformats.org/officeDocument/2006/relationships/notesSlide" Target="/ppt/notesSlides/notesSlide2.xml" Id="Rde76b2661c0c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8606408284e87" /><Relationship Type="http://schemas.openxmlformats.org/officeDocument/2006/relationships/notesSlide" Target="/ppt/notesSlides/notesSlide3.xml" Id="R7d9045dc5b1a4a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c1a01cd5744a5" /><Relationship Type="http://schemas.openxmlformats.org/officeDocument/2006/relationships/notesSlide" Target="/ppt/notesSlides/notesSlide4.xml" Id="R3e3d5b7ede914f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d09863f6b4673" /><Relationship Type="http://schemas.openxmlformats.org/officeDocument/2006/relationships/notesSlide" Target="/ppt/notesSlides/notesSlide5.xml" Id="R18d97f65a1a244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2ca616b5e4afc" /><Relationship Type="http://schemas.openxmlformats.org/officeDocument/2006/relationships/notesSlide" Target="/ppt/notesSlides/notesSlide6.xml" Id="Rc66432dbf0e740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be77100a64f84" /><Relationship Type="http://schemas.openxmlformats.org/officeDocument/2006/relationships/notesSlide" Target="/ppt/notesSlides/notesSlide7.xml" Id="R8d3c30bc18b64b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d66a75b694890" /><Relationship Type="http://schemas.openxmlformats.org/officeDocument/2006/relationships/notesSlide" Target="/ppt/notesSlides/notesSlide8.xml" Id="Rd85c3093029142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DC0FA9-01C9-4788-B118-9131A3C1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SLIDE 01  •  PROJECT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55267-477E-40C5-95BA-8E7860B9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0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EFF"/>
                </a:solidFill>
              </a:defRPr>
            </a:pPr>
            <a:r>
              <a:rPr sz="975" b="1">
                <a:solidFill>
                  <a:srgbClr val="DDEEFF"/>
                </a:solidFill>
              </a:rPr>
              <a:t>TEAM ANKOR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798A7-107E-4F8A-93AB-16CFBB6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DealTwin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9871E-3C58-4493-A92A-4AED9F1F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DEEFF"/>
                </a:solidFill>
              </a:defRPr>
            </a:pPr>
            <a:r>
              <a:rPr sz="1875" b="1">
                <a:solidFill>
                  <a:srgbClr val="DDEEFF"/>
                </a:solidFill>
              </a:rPr>
              <a:t>A phone-first assistant that checks whether the deal you finally receive still matches what the seller promised.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5A153-80B7-4AE6-8817-54394526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1462B-9B3A-459E-BAF5-E54099BB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86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Promises are scattered across ads, calls and chats; final charges appear later in invoices, EMI schedules and warranty documents.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A1119-ED38-42ED-9412-31C96841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571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0A350-86C3-4156-8125-AEBEC60D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MVP  ELECTRONICS / NO-COST EMI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407BE-72DD-4226-BDF3-D535B5D0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2647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8452C-5024-447F-9E08-2D56D82A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385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PRIVATE BY DEFAULT  •  ON 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748CC-C753-4F1F-B09E-450A9F61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4DA9F-87EA-4A22-A6B9-A65E745D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1956B-4856-4181-B63C-A3014194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74680-0C49-4A9B-BCD5-3F961B01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048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HOW THE IDEA WORKS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C9253-00CE-4060-B3FA-002CE3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12858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67E3D-928D-4FC5-92A5-103B3695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33525"/>
            <a:ext cx="1133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6E462-3539-4634-944C-855D5D1C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4785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camera • audio •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AB2D2-680E-42A3-A83E-3DE63428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81125"/>
            <a:ext cx="12858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47F98-20C8-4AA3-B548-8BF910C2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33525"/>
            <a:ext cx="1133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CLAIM 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B53FF-D0AC-4A18-9F64-F6BD199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typed + provenance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ECA81-D2C0-4EF6-A6FA-C7845610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381125"/>
            <a:ext cx="1238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795B8-6526-49E2-AED8-C600B24E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533525"/>
            <a:ext cx="1085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VERIFIER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524E7-6F3D-42FB-9CDB-FEED9D23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478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rules + true 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C30AB-7F32-4490-BE90-938EDC56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81125"/>
            <a:ext cx="933450" cy="10096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89429-6B3E-47F8-9C0F-1AABE2F4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533525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LEDGER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96E4BB-DA4D-4EE7-A66F-A6F4F9F5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478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status + sources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82DBE-C273-4F7C-9149-5365960D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28900"/>
            <a:ext cx="54578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2A49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A4F4C-6984-432E-BA01-43D98EE3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908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CORE DIFFERENCE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F33D85-4307-46A8-8A29-22B434ED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AI organizes the evidence; deterministic rules calculate money and show uncertainty.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82D264-A67C-4A29-8CEF-5E949481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490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Every verdict links back to the exact source.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B4C53-05BF-459B-8677-87F3E1C9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125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EDD05A-CAB7-44AB-A0B0-5C80BD8A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WHAT THE USER GETS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3E1898-C058-49DB-879A-830D8150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DF50FD-AEA0-482E-88AB-A4DDDA6D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CAPTURE 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0705F7-5300-43E7-89D2-B9BF67A5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FF"/>
                </a:solidFill>
              </a:defRPr>
            </a:pPr>
            <a:r>
              <a:rPr sz="1125" b="0">
                <a:solidFill>
                  <a:srgbClr val="DDEEFF"/>
                </a:solidFill>
              </a:rPr>
              <a:t>Save the promise before purchase: ad, chat, call or PDF.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B6034-AEC7-4C79-89B6-51E29C82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86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707318-C779-47AC-B0C8-C7D9E427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672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VERIFY THE FINAL DEAL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6756A5-A626-414A-8A2E-86F6D41F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10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FF"/>
                </a:solidFill>
              </a:defRPr>
            </a:pPr>
            <a:r>
              <a:rPr sz="1125" b="0">
                <a:solidFill>
                  <a:srgbClr val="DDEEFF"/>
                </a:solidFill>
              </a:rPr>
              <a:t>Compare the invoice, EMI and benefits against that promise.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2C4CDD-6FBF-4D29-BDB0-16C0AA60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AB835C-9648-4934-B850-ABDBA6CB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672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ACT WITH CLARITY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52F4C4-AEE4-4BF4-AFD2-C4952A02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0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FF"/>
                </a:solidFill>
              </a:defRPr>
            </a:pPr>
            <a:r>
              <a:rPr sz="1125" b="0">
                <a:solidFill>
                  <a:srgbClr val="DDEEFF"/>
                </a:solidFill>
              </a:rPr>
              <a:t>See kept, changed or missing terms—and their real cost.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7A11F7-A35B-470A-A814-B95C966B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112585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745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3F7F39-37CC-4D7F-80A6-A3A90287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91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PHONE-FIRST  Capture → verify → explain on iQOO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525353-123A-410F-811F-C8B53492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9122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OFFICE KIT  profiling • logs • test assets</a:t>
            </a:r>
          </a:p>
        </p:txBody>
      </p:sp>
    </p:spTree>
    <p:extLst>
      <p:ext uri="{BB962C8B-B14F-4D97-AF65-F5344CB8AC3E}">
        <p14:creationId xmlns:p14="http://schemas.microsoft.com/office/powerpoint/2010/main" val="1699415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27F739-26B4-43DB-AB5B-7D85F954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7E7EA-C641-4C34-9B68-7D4414B1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02  •  PROBLEM +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9956F-925A-4B66-8A74-67AF49E1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B1053-F9C6-463D-954D-8224D509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202C5-EC84-4048-9F03-CF3FD895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PROBLEM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6E97F-7919-452B-87EE-9F871D8E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A deal is promised in one place—but proved, charged and serviced through entirely different documents.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5B961-3A12-4D7A-9789-991AF915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289"/>
                </a:solidFill>
              </a:defRPr>
            </a:pPr>
            <a:r>
              <a:rPr sz="1275" b="0">
                <a:solidFill>
                  <a:srgbClr val="5E7289"/>
                </a:solidFill>
              </a:rPr>
              <a:t>DealTwin converts both sides into comparable claims, identifies what changed, and explains the financial impact with source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A211E-35A0-4F46-BAD4-0C78664E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095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9525">
            <a:solidFill>
              <a:srgbClr val="F3C7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23FDA-A80B-4308-BBCC-37CBF1F7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CD966-23DF-475A-A33B-20BD783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People cannot manually reconcile scattered promises with final terms.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A598F-69BD-4F71-B911-E06482E1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95550"/>
            <a:ext cx="53816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BDE7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A90D6-537B-4615-8BFB-0E0DC105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289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778E8-0F74-4593-AA4D-5D58C70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Build a promise ledger that compares each claim and keeps the proof attached.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E9147-4B25-4F68-9268-26F183D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PROMISE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E9B49-1431-42D0-AB13-5143696F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051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COMPARABLE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2AB6F-C8A6-4E0B-99FF-25F43FF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051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FINAL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C5897-9DCE-4EA0-94DC-89E919ED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051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VERDICT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E0F81-B8C9-40DB-905F-C9C85DD9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052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B0285-6836-486B-905D-A12E0C9F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52AF8-4510-4118-B96A-FAE594E4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052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B8BF5-6DC4-40BC-A9D9-5C5C64D9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CA9DF-173B-4AF4-9123-717E5931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B71CC-7479-4EE2-BC30-F542BA6E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AB529-44F0-48CE-AC21-BAD26546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ABEBC-9311-4297-9BF0-D25C2353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38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918D8-4DB7-4198-8667-A427100E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720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930AE-75E4-4D13-A4BB-6C87DB8B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414883-2759-4A69-B996-0D534078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8C28B-F4FC-49B3-B51A-A4BE6BB8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38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9D0086-DBEE-492D-8F9A-5C13FE85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387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85599C-F25D-4FCF-B20A-FAA1D1D5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05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4088DD-60CE-487D-B1A6-66208B1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2387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2BABF-308F-4C67-AE1C-A73FF412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2BE16C-AEE9-4340-982C-54ED547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387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DCBE9C-CEB1-4960-AB55-4ECCB07D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105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7AC924-A46D-4E14-9618-E4012D0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BA548-1054-4C43-A432-304D893E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BE317D-11EE-4029-929E-58F1F9EF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Ad screenshot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E1CFA3-AFF2-46C4-8B52-2F0C703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no-cost EMI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8F2594-6F3A-49DF-945A-14BF8EFE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814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5C4E36-FA30-40A7-A3F8-FC717664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81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B9022C-34A9-42E3-89EB-B1935193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957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financing_cost = 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EFF456-061B-4CE2-8AB5-33AE0585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952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95D626-58FA-4A6D-A91C-C9DDB9FB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680DD9-BB7F-453B-AE29-CF96EEDD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4FD70E-AB1D-4041-AC94-C046BE4F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Invoice §4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55D74C-0CED-4367-80E6-980BA113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52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processing_fee = 999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0ED1E9-D7A2-4B88-B504-1CC10771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861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66619D-7BF2-42DC-9537-DBB88791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100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CHANGED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321221-46E1-46A0-AC85-E80D343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528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996F25-90E3-4368-8C41-DE5A5632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004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CONTRADICTS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CCF769-2A7C-4E07-B5AF-6E5B0CFD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07366B-F337-4004-83E9-A7C2837A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E90FFE-4E28-4640-AC8F-E2C1228E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Consented audio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3BA7BC-EF32-44B2-A3A4-B531E93B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free insurance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7DDD2F-F520-41D9-822E-3889219F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4815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476454-5533-4EA3-8BA5-3D072503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48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301D31-09DE-41D7-8C75-DA41B926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3624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insurance.benefit = FREE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856FB9-8615-4062-9A56-85087988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196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A22F91-6D0B-4193-ACE1-0D70387F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7949CF-D5D8-40A5-B0AF-263765D5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5ABF58-D919-4060-A3C9-2C207F6F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624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Invoice + KFS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D4421-3458-4589-8773-B428DC1C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196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policy reference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FF3555-EE94-429A-BFCD-5980901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5292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2B40C4-9D5C-408D-B01E-4ACE951D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4767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MISSING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FE44FE-DE02-4380-A5CF-849E46EF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1960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FE05A5-BD0E-4D46-882F-80493F91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6722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NO MATCH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273E52-E3EE-4182-AFFE-450C3CED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A6C532-5E15-4A03-972E-5EE3C212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D5A5A4-FB9B-4128-B117-8F8C4AD2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Seller chat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4AB226-77C7-4718-9209-210717F4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2-year warranty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0C8BDB-483E-4D3E-A6B2-E0FF2E88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149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987B573-9270-45F6-A737-D38B2CE2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14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31CD64-0DCB-438B-9701-0716A3AF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29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warranty.months = 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B4039B-5B49-4E99-BA35-1DB8383A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286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seller+card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8E35CE3-F6C1-4D7D-8AD5-CD2AC284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DF851D-4A43-466E-B1E0-EBA3D063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DC4A18C-A477-4AB6-B8C0-6DDF214F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Warranty card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02657A-C8E7-4D5B-A965-5FA95092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86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coverage = 24 months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593283-D700-4835-98FA-ADCF1928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0196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51FF5DE-AFB8-49F6-8EDF-70F5422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1435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KEPT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CC25F0-32BE-49A6-BBEA-BD3A7569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863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7A3A83B-6527-4AFD-995E-1D37AF5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339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SUPPORTS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EE58D9D-FB30-40FB-ABCC-8F2849B7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6108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E2B2BB-7CBA-47FA-B017-ED09E43A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721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PLAIN-LANGUAGE RESULT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02BF902-F371-4F9F-AAF2-E7FBF658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43600"/>
            <a:ext cx="838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The user sees what was kept, changed or omitted—plus the evidence needed to question it.</a:t>
            </a:r>
          </a:p>
        </p:txBody>
      </p:sp>
    </p:spTree>
    <p:extLst>
      <p:ext uri="{BB962C8B-B14F-4D97-AF65-F5344CB8AC3E}">
        <p14:creationId xmlns:p14="http://schemas.microsoft.com/office/powerpoint/2010/main" val="1951825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D2A974A-4BDD-4B92-806D-0819B9DE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BEFCB-7C64-423B-A8D5-27E73DDA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03  •  USER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F8B3C-5489-4EBF-922E-61A10C60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87EAC-13D3-41CA-8B63-418B3B17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93A21-675C-45D8-83BF-768F31E2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ONE GUIDED PHONE WORKFLOW TURNS SCATTERED PROOF INTO A SIMPLE 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EAE37-5618-4AFE-9C90-1BFB228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The app captures, confirms, analyzes and explains; when evidence is weak, it asks instead of guessing.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10A48-E099-49CA-BF88-62650DD2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USER /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B3EB5-FD98-4839-A558-3B477959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15ADB-68FE-41C0-A909-338DED57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PIPELINE COORDINATOR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50C0D-39C7-4988-AF6F-60C11F38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35815-EC8C-4DB1-87FF-CCAC245A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LOCAL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F3C91-3FD6-4222-B71C-08FFE03C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FC889-3873-4777-B2E2-E14495EE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VERIFICATION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8CD5F-9CD9-49B8-93C6-0B9D1939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EDD62-2034-4EF9-9376-A347483A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DATA +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9EC31-0FC6-4DB6-873F-2611CBA3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864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5E537-E6E9-4ABB-A2B8-0C76E246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6B114-6AB9-4F07-B572-5B2C478A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F6796-E2B7-42E9-A488-5C921B4F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064C4-2C99-4F3B-8292-DE45DFF5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F5285-B3D2-48CC-AEB1-9BD62E4A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D37AD-97FE-4847-85D6-9E45EC0E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CAPTURE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D551F-6343-46DC-AD3A-F29C789F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camera / share / file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78EB4-658F-4463-A42F-4C1F9DCA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4F9A0-09C1-4CBD-BA92-CFC107C3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CONSENT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748A15-9B9E-4326-9AF2-AC203A36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audio opt-in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412406-8B66-4FE7-9325-9C6DBE29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6D43DF-CE82-4DDF-AF8B-8EF96349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9D43F-7B1C-4E00-9511-B96CFC4A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crop + source type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B52269-2F50-458D-B815-EFFF2E14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6FCCE-3A5A-4F72-A1FA-36CC5C85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PROCESS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694DF9-0D1D-41DB-A5BF-5FB82043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start local job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0B3DB9-7599-4539-9BFF-3FEB7467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B2008C-74B8-483B-A82E-74DB30BC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756656-788F-4755-8455-ABEDA82E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ledger +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2EF767-F853-486E-B70C-2ED61A9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420A97-047D-411A-A31E-815A4197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INGEST + HASH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9425E0-FDEF-4FAD-8519-DD4CCD30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BA56AE-4866-4998-AE6C-8D404BBD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SCHEDULE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80A770-7B0E-4837-A269-55202477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8722DF-EE98-465E-BCEB-B0AE6517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RETRY POLICY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74B6A4-88EF-4892-A342-54F9516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DC898F-0CAD-4BAD-9737-433746DA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STATE MACHINE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A47A22-C130-40B6-8210-2F5462AE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26E15E-4D97-43FA-957E-F2A74C1D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PUBLISH EVENT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DDEB27-C0C7-4974-B6CB-75A0D4D0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EC7E78-A892-4934-B266-8F017F9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OCR / STT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A6D051-0FC6-4163-9B7F-4103B6AB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F8A319-4D88-4CB5-96F0-AB6993E2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CLAIM JSON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5FC9EC-6093-4FEF-A85B-B4FA8F1B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A2BBCD-3FF4-4614-AC01-BCED347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EMBEDDINGS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79DBEF-E2D0-465C-A651-CC11FAEA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4E8246-FCD6-4B3C-9D21-5199185F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TOP-k RETRIEVAL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FCA919-FBB7-4940-BC3D-9B484689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95850"/>
            <a:ext cx="12858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ECAE01-5CA8-4461-8E56-4F5F3950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43475"/>
            <a:ext cx="1133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NORMALIZE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D95957-9B33-4CB5-A025-68A19211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441BA5-D8AF-46A8-A6D8-6B21AEE5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CA3385-2662-43D7-A244-BA7A83B7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SCORE S(p,c)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48520F-DF22-42AB-BE0B-94749CEA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E17F4F-A600-423C-A9D1-7ED474A1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62500"/>
            <a:ext cx="87630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>
            <a:solidFill>
              <a:srgbClr val="DB9B1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A7401C-2C7D-4B8F-B8F4-F8A188A6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434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B9B1E"/>
                </a:solidFill>
              </a:defRPr>
            </a:pPr>
            <a:r>
              <a:rPr sz="1050" b="1">
                <a:solidFill>
                  <a:srgbClr val="DB9B1E"/>
                </a:solidFill>
              </a:rPr>
              <a:t>S ≥ τ?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4CDBDC-00DF-498E-88C2-7C6BEA41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02EFE4-8A9B-4EE4-91E4-57C6F0E2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B908BF-3F7A-404B-B602-29013C19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CONSTRAINTS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3853F1-FCB8-42A3-9D5C-978C78CD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843E6C-2E48-4C0F-A27D-E4739C6D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8A12B1-60D5-4257-AE5E-0F3C2664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CLASSIFY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C176ED-04C6-4B0C-8FC0-B497922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72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F465B"/>
                </a:solidFill>
              </a:defRPr>
            </a:pPr>
            <a:r>
              <a:rPr sz="825" b="1">
                <a:solidFill>
                  <a:srgbClr val="DF465B"/>
                </a:solidFill>
              </a:rPr>
              <a:t>NO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E3F149-0112-4AAE-996D-C4904894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C469429-A873-4745-ACD2-BE61F8DE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05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B429B9-7184-40EE-80EA-C9186D9E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7215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6A62DA-C3DE-4E48-A607-38F5F40A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1977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ASK USER / UNVERIFIABLE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245CC7-464E-43E9-9A35-27A3DBFA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435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063C87-D39F-413A-A1A7-58C6447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911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EvidenceStore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18CBF25-DB22-4830-BFE5-48206C76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435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AD23F9D-5A35-42E4-A666-34CC776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911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ClaimGraph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4705860-1221-4C78-91C6-6E8DF28C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459C0D-3373-42F3-92D1-518675B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911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AuditLog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E48678-4BF8-4480-8822-98667FE0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4355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90E684E-7503-4902-9B97-679C727D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Promise Ledger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939181-0DE6-4B92-89D5-6BAB1B7F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IN PLAIN ENGLISH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7E89264-480C-4892-A93E-BEB374D3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31507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Photograph the promise and final bill → confirm only if needed → receive kept, changed and missing terms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692287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0F1AAB-B3D0-43C9-9B9B-A394D711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0DDCD-10E3-4ACA-BF36-8B2A932F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04  • 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2C67A-B627-493D-99FB-C694275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9053F-0FB0-4E6B-BCAC-B538CB9D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E27B2-CF24-41C0-B2A7-BB716296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FIVE LAYERS KEEP THE USER EXPERIENCE SIMPLE WHILE THE COMPLEX WORK REMAINS TESTABLE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E0576-40E6-4B0D-8C5D-72C285DF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Each layer has one job: capture, coordinate, understand, decide and preserve proof—even without network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0E87F-C659-453B-AA6E-58BA38B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29900" cy="3219450"/>
          </a:xfrm>
          <a:prstGeom xmlns:a="http://schemas.openxmlformats.org/drawingml/2006/main" prst="roundRect">
            <a:avLst>
              <a:gd name="adj" fmla="val 355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87C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E4BEB-3A96-4478-A2F2-E0B4BFA7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iQOO DEVICE TRUST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9068A-6F83-4FDB-8EDE-1187055B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81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68079-D8D3-490D-9A74-2920CB3A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19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0F4C2-024E-4A11-BA61-9CE96014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457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1E83D-AA7F-4CF8-8C38-43FA2041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B74A3-B146-4796-93F3-ED46C28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UI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39080-B0D8-4445-BC42-DA2C0C2C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BB64E-0FF6-4C46-9483-531F3734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CaptureScreen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535B6-7640-4290-A49E-3B8E957D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1EDAA-DEA8-4F02-A853-99C35FFC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ReviewScreen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0B31D-7B2A-4CE1-9F25-9362C81D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A0A9F-1C0A-47FD-AC8B-22643505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LedgerScreen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985E2-36EE-4075-9AB6-3943BB66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ADA02-51A6-4F05-8993-AFA37B2F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06108-68BC-4113-BBE3-F177270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PipelineCoordinator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5D095-2B04-4B16-A5B8-3AA0219E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2A62B-854B-498C-8590-5C0E1CBB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CoroutineWorker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21E79-311E-4DF6-8541-7B601C2A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D4B7A1-4894-49EC-AF2D-6B662E7E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UiState reducer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776DC7-1F25-4D30-981E-AD518604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INFERENCE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0E0E8-C3B5-456F-B96D-D63FFE46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D5B3DC-3A83-4E3A-9BD2-28B01DD6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Bundled OCR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AAEA3-181B-4B01-A8A5-5EDE1426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E172E0-6CC3-4584-B10F-A8FAF841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Speech adapter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590297-D772-49FD-ADFF-CCFDEC9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AB977-66A4-4358-B783-468AEF0F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LLM parser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D2297-5882-4132-8971-C7662F2D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8E8703-9BC4-4286-BCC9-61831415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Embedding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1A38E-1FC5-41CA-AC8C-7A10073F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DOMAIN 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204022-4B24-49D5-AA84-944D89CA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FC54DB-8EFE-42AB-BE85-F2E7E5EF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Canonicalizer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5BB735-0D56-4817-BF71-279B5605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22AACD-F3F4-4F71-83DD-E4F15853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MatchEngine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2A00B4-814A-483C-8C3D-8399E35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2151C0-0CD8-4B54-8C4A-A3254B5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ConstraintEngine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954865-6C8A-4117-AC01-661F5D8F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239C05-25EB-4F45-B82A-B679927C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CostEngine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137F8F-7412-4F18-940E-D1E5BB9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B9B1E"/>
                </a:solidFill>
              </a:defRPr>
            </a:pPr>
            <a:r>
              <a:rPr sz="975" b="1">
                <a:solidFill>
                  <a:srgbClr val="DB9B1E"/>
                </a:solidFill>
              </a:rPr>
              <a:t>DATA LAYER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00BC49-618D-40D7-8204-13FFAE28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BE95AE-8709-4096-8947-CD574859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EvidenceStore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3BE408-33C4-421C-BEA8-71DDB9A4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39F765-29C0-42C3-BE52-CBFD1440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ClaimGraph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CC55EB-95FD-46B7-9CD1-94F3A801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458DDF-E78C-4F06-82BF-0120D2C9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AuditLog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984734-1A04-4B76-9524-A6D737DD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A4269-3185-4111-93E7-0CFF07EC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DomainPack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88E605-E235-4A80-A763-950998CE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29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8FB3C5-C1C3-4D6A-AA4E-4ABCE587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436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1D2E7"/>
                </a:solidFill>
              </a:defRPr>
            </a:pPr>
            <a:r>
              <a:rPr sz="900" b="1">
                <a:solidFill>
                  <a:srgbClr val="51D2E7"/>
                </a:solidFill>
              </a:rPr>
              <a:t>DEVICE / RUNTIME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1F6B70-AB83-442D-8138-64236CA2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CameraX  •  ML Kit OCR  •  QNN / NNAPI / CPU adapter  •  Android Keystore  •  Room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F1C4EE-E485-45E2-BF5E-8581B389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8647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ACFEDA-EB55-4B3E-9F20-712A661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341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OFFICE KIT</a:t>
            </a:r>
          </a:p>
        </p:txBody>
      </p:sp>
    </p:spTree>
    <p:extLst>
      <p:ext uri="{BB962C8B-B14F-4D97-AF65-F5344CB8AC3E}">
        <p14:creationId xmlns:p14="http://schemas.microsoft.com/office/powerpoint/2010/main" val="342598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22EB48-E6E6-4C34-A1C1-BC4D230D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3E56E-EED2-4CAA-853C-AE922C2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05  •  DECISION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40FC2-82D6-402E-9274-6AFBB8A1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35D58-9B2B-40C9-8277-B48C48EC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79143-A68E-4F40-B2F4-07D19F9A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AI FINDS THE RIGHT CLAIMS; DETERMINISTIC RULES DECIDE THE MONEY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7CC16-C538-43F8-AD55-125FC521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This prevents a fluent model from inventing a contractual or financial conclusion.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DE02D-DB55-4043-A1CB-74365D45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CLAIM-PAIR STATE MACHINE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BDC85-8AC2-47D4-8A09-BA8BB42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670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3E9EB-C0A1-437E-B7E4-90CA6139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66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35408-F3C9-4B92-9260-7B9B35DE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052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4D403-F42A-4A12-8CF2-B323046C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148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235C6-679F-4710-B3BA-F4A6D634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E3625-92F1-4DF4-B2F7-F56B66D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52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B9361-817C-40F5-B6F0-14B48CA5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46AE1-D2EC-46EB-816B-E08646BE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91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B9B1E"/>
                </a:solidFill>
              </a:defRPr>
            </a:pPr>
            <a:r>
              <a:rPr sz="1800" b="1">
                <a:solidFill>
                  <a:srgbClr val="DB9B1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F6B02-3278-4D1B-88F9-F7A72E40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626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B4924-6981-48E8-99F1-BF0D82EC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429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A66A"/>
                </a:solidFill>
              </a:defRPr>
            </a:pPr>
            <a:r>
              <a:rPr sz="1800" b="1">
                <a:solidFill>
                  <a:srgbClr val="13A66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49843-AB5B-4E1A-9D85-4B7B18E4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057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92573-5CF2-4A7F-97E2-D6DB5A68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promise claim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88989-38A2-46B7-AD34-E09861B1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7C62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8668B-D753-461D-9B28-BE2301B6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81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max S(p,c) ≥ τ 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7E523-3F47-4D0A-8839-5BA584D3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>
            <a:solidFill>
              <a:srgbClr val="DB9B1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4BD46-8FFC-4B0B-A4ED-6D85716E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B9B1E"/>
                </a:solidFill>
              </a:defRPr>
            </a:pPr>
            <a:r>
              <a:rPr sz="975" b="1">
                <a:solidFill>
                  <a:srgbClr val="DB9B1E"/>
                </a:solidFill>
              </a:rPr>
              <a:t>evidence confidence ≥ γ 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FA422-0BE9-454D-A6DA-91B1BE25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297AA-B67C-412D-B017-B3E4CD3F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578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constraints equivalent 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D08D86-5F43-4659-92C7-DC039222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52850"/>
            <a:ext cx="1123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74E494-D4C4-4049-A587-296A1C9F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MISSING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E7308-4D1F-4203-BEC0-D6C0F444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00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viable final claim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148634-FD8A-44CC-9273-DF4B2087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10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032979-7231-4462-B5E9-05DD68B1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UNVERIFIABLE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D0AAED-8284-4F9F-87BC-BC4A1243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386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request confirmation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4A233D-183E-43BE-8AA7-6053637D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29250"/>
            <a:ext cx="952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5643E-AAF9-4D6E-AF9E-EF9037A5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KEPT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68DF49-E234-44E2-91E7-AC3FD00B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76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same value + conditions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899109-D5CE-4930-B456-EE118EA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91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constraint mismatch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B2CCED-E94A-4EB1-AC69-7105CE98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43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D8162E-D9E7-4A6D-8A82-0F560590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32D6E0-5E4B-44C0-AF15-1BF4B72F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953125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CHANGED / CONTRADICTED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1F2D3D-FE37-4BD5-A0B7-534473ED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3981450" cy="35052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48E41E-EF87-45AF-9812-3B0098A6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CONFIGURABLE MATCH SCORE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30E4B9-0238-483C-911B-1469F6D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S(p,c) =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EF5276-066C-4002-A864-E342BBD8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23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0.35 semantic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+ 0.20 entity/value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condition overlap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temporal compatibility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source authority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0693F9-1D08-4A8F-B4D3-5454B613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7396A0-7F45-4B64-99C4-612A7F67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91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TRUE PAYABLE COST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19BA05-6D96-4114-A8A1-43ECF96F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base price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explicit fees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financing cost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lost discounts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− confirmed benefits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DF1158-6A5C-45F1-9729-C5E744F9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05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F5EA"/>
                </a:solidFill>
              </a:defRPr>
            </a:pPr>
            <a:r>
              <a:rPr sz="975" b="1">
                <a:solidFill>
                  <a:srgbClr val="DDF5EA"/>
                </a:solidFill>
              </a:rPr>
              <a:t>EXPLAIN(result)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763858-1E2F-409A-A53C-E44B9663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482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status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evidence_ids[]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opposing_ids[]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calculation_steps[]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67DBC1-1972-4FDF-A47D-93DACDCF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IN PLAIN ENGLISH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CF4CDE-FC49-40F8-A91B-35253A9B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3246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Low confidence → ask. Conflicting proof → show both sides. Matching terms → mark kept.</a:t>
            </a:r>
          </a:p>
        </p:txBody>
      </p:sp>
    </p:spTree>
    <p:extLst>
      <p:ext uri="{BB962C8B-B14F-4D97-AF65-F5344CB8AC3E}">
        <p14:creationId xmlns:p14="http://schemas.microsoft.com/office/powerpoint/2010/main" val="687252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217139-2819-4486-996E-BB8A4DFB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0DD82-9B95-4F07-9A3F-48EA8033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06  •  IMPLEMENTATION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CFB0A-77CB-4373-9406-D6A79203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B5911-6A26-447D-AA00-E4D8BE2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B2AE3-5054-4B37-BCA6-243FE53E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A 25-HOUR PLAN PRIORITIZES ONE COMPLETE MOBILE JOURNEY BEFORE MODEL SOPHISTICATION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54D67-8F5D-4740-9253-00D4EF9C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Every risky dependency has a fallback, so the demo remains usable without cloud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8176E-D869-4D27-A60B-B0473D57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RUNTIME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0C2D4-C261-45D0-9B9F-286BECB1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74B8E-3A73-40AD-A57B-44A5A0D3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AA8AD-2765-485D-9070-259624A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FAILURE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E706A-5215-494E-92D0-C154E5DF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B9A2D-A9EF-40AD-9085-C75592F0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8C735-E5EB-4081-9150-9DFBA9B4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Bundled ML Kit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0A39B-918A-4FDF-9908-2E7BF253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manual crop + retry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F8B46-85FA-41E6-BE58-FA9EDBD4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silent empty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654B7-84E0-4057-8E47-A5BF42CE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1E699-4DE4-45AA-8F31-95AC130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Claim parser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5AEBE-5BA1-4F01-858A-F20C525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671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quantized local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93354-2FB8-4FD0-9917-4704130A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67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regex/schema parser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44CA8-F6BF-4E25-9B4C-3E2F0BED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67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invalid JSON rejected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A7764-CBB1-4590-B9FE-66C5654D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BAB04-C56D-4E22-89B3-D07EABF5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Embeddings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6FEF3-9B53-4C94-AA22-84DCC0BC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433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QNN / NNAPI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63602-BA76-4F35-9348-283C0623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CPU 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BCF03D-D2B1-4C67-85F6-4968E495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43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same vector interface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34137-7C22-4DB0-90A5-462D9AA1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7613A4-2017-4869-A261-B4B2F042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Speech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38D59-3A52-4896-A3D0-F97079D9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offline adapter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CE9DF2-EF7A-4E14-81A2-BE2CF09D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9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typed confirmation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D32CC-E3AC-4E37-9053-8A2147B7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19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explicit consent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4DC969-B463-4466-986D-D7C66F85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28A9E-BC95-416F-82E7-98F19F8D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Storage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EF1DF9-539A-40B5-B0B0-1CC0F24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Room + AES-GCM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D8A4B-3955-4A01-840D-6596C56C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in-memory demo vault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8BED78-6F34-462A-A6F5-7AA93815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hash every artifact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058953-53A2-4D63-956A-E49BBEA5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25-HOUR ACTIVE BUILD WINDOW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93AD06-580D-4D84-949C-F8D8C2EF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6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AA3B46-A0E3-4771-A719-7AB81D2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11:00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2CD37F-0560-4BF8-A1E1-71A17C89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16:00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444317-4A4E-47C8-846E-F86D674B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22:00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4D5A73-D393-4E1B-813A-FDBFA32B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06:30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2DB979-431A-4495-B875-C3ED849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12:00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DD4840-E3E4-495B-8ACA-97D3DD98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Vertical slice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042E1C-B570-4CAD-A274-6DC581F3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536448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ADE4CD-04ED-40F3-92FD-5B589D9A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OCR + parser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C895A3-63A4-4AAD-A01A-023F155B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3752850"/>
            <a:ext cx="70104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1597ED-C7C8-460E-93AE-3249A6BD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Model package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594851-FFB9-45CA-8DC9-C8610398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490" y="4171950"/>
            <a:ext cx="451104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0F8557-1673-4BBB-88CE-4DB335B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Verifier + 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9CE481-3D8B-414B-9B97-89865E8D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810" y="4591050"/>
            <a:ext cx="597408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0E7D65-3F9E-4D35-9C12-3CDEDCA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Profile + harden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69F3AC-168B-40BD-A537-96378A4E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010150"/>
            <a:ext cx="499872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9D278F-66FD-4312-A350-1FFBF6A4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E33BCE-95D2-40DC-8858-7F160162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7212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RED  PHONE-FIRST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A725CA-F069-4DCF-BF90-152D248D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9D62A2-39E7-442C-BDE0-B4F07084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7212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GREEN  BOTH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4BE738-3855-4FF1-A911-F4EF893C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000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D32952-C508-447F-9BFE-EDEF992B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SECURITY + RELIABILITY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2B7919-88C4-4DC6-A6B9-3B1FA5CF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7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Keystore-managed key • no background recording • append-only audit • BigDecimal arithmetic • low-confidence fail-closed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E191BF-A960-47ED-A57C-E2C4E9F0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24550"/>
            <a:ext cx="3162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722101-D4D5-42A0-BE50-68A7B1F0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19800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OFFICE KIT  mirror • logs • test assets • remote input</a:t>
            </a:r>
          </a:p>
        </p:txBody>
      </p:sp>
    </p:spTree>
    <p:extLst>
      <p:ext uri="{BB962C8B-B14F-4D97-AF65-F5344CB8AC3E}">
        <p14:creationId xmlns:p14="http://schemas.microsoft.com/office/powerpoint/2010/main" val="866179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B97A9F-AB64-493F-921B-68C7BF12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D9C0C-DA15-4C09-8BA9-DFB1CE1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07  •  CONCLUSION + SCALABILITY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2E20E-41B3-4524-BA75-7A15F97C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26D35-C4F5-4FE3-87FF-2E254375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8E651-5191-4226-815C-2A90FA07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DEALTWIN CAN EXPAND FROM EMI DEALS TO INSURANCE, LENDING AND TELECOM WITHOUT REWRITING THE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B3289-77C7-4EBA-B162-2064EE1D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Winning case: a useful phone-first product, transparent AI and a clear path to many users.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32360-6C21-48CD-850D-F1600CC1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PROTOTYPE QUALITY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6BC7B-5E4D-4DE9-B81F-9CB83921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69172-1790-478A-A79C-7611005B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5EAA6-D188-4791-B310-5EF81EDD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PASS 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2F5F4-4027-4181-B99D-9C3B21F6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DC354-C938-4D54-8B11-DD0FCC98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Ingestion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316F5-2C3A-4EA9-A75D-55E3BBD7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575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4 source 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FA4BF-F43F-4E60-ABBA-7B23A61A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hash + locator persisted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36C99-62B9-42AA-BA86-F59DBB7A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3ED31-DCA2-41A7-898D-3C6312A0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1E344-52C3-4867-8E58-38304E2A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scripted EMI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0E852-2444-49C4-9F77-C8829D6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valid claim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FC076-6E31-48FC-9F08-51CD6E94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9F6C3-BB0E-476D-A053-E5E59326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Matching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80E0A-676F-4F40-A833-44747E08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719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kept/changed/missing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C319F-B8E5-4036-A1D8-5F222AA7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71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expected status +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14DC3-C137-43E5-A043-60FF7648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828B3-80A9-44EC-993C-F9141C07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Cost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D8BD0-08A7-43C6-90F4-623EEF13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291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fee/discount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4D610-B612-4A77-89D4-DB3016CB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29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exact BigDecimal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050E1-9CAF-4B28-AB0C-4589A7E5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DEA7F-A45E-4921-AFBC-490E49C5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Privacy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CFA38-AB8C-49B5-8143-8CA14C8D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offline 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C2958A-06B4-4B27-A538-56221F92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86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0 raw uploads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0446C0-DDE2-45BE-BA59-8E1D90E2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DOMAIN-PACK INTERFACE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D7BD6-C1AB-4692-B430-F4B03353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F9F55D-798B-4F5A-836D-26BE320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242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ontology.yaml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8184A7-5699-413E-B86C-405F9C00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783721-000E-4729-B3BD-1FBC1A2B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944471-81F5-473F-97F6-6B2E8469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claim.schema.json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5452E9-B1F6-4AFC-BD78-2AC6AD85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0406C4-48F6-471B-85DD-94D3B12A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85A83B-32B9-4561-BE10-ED299D3E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rules.kts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FEFCB6-B145-4B38-8629-B2D2720E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00303E-74AD-4F0E-BE5E-8FF19A21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914F19-D137-480B-8CD6-A2159ACE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672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few-shot examples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A80691-B241-46C6-99EE-55A52645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291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38B4AB-7BB5-4071-B5B1-761D4E65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20764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F250EC-DD5D-483F-9338-ECFB5455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SAME ENGINE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8B9E35-0FC1-457A-ACCC-466991D8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90925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Claim parser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Evidence graph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Match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Constraint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Audit + explanation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ED06B5-FDB6-485E-923D-D6054B54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006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Electronics EMI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44BBE1-C234-471B-BA6B-7C08A0B4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35747A-8A4A-4475-9663-03EB123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Insurance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F8FAF9-D882-4EF6-85D1-B244CFC0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F90346-A69F-46A9-815A-1D17AF9D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200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Lending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1C6FE5-BEC0-453A-8AD5-C24F9E26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A8C194-D357-4DB3-B4C6-C3D95DC9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006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Telecom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F98955-FF2B-4EEC-827C-04F8ADFA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9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3E6497-4D31-4B62-A29F-FFC3CE3C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WHY IT CAN WIN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F7235-602C-4C7D-A706-C38581E5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62625"/>
            <a:ext cx="866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High-frequency consumer problem  •  measurable savings  •  traceable AI  •  reusable domain packs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E7A979-19E3-4FD7-B086-C5B14654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866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DEEFF"/>
                </a:solidFill>
              </a:defRPr>
            </a:pPr>
            <a:r>
              <a:rPr sz="900" b="0">
                <a:solidFill>
                  <a:srgbClr val="DDEEFF"/>
                </a:solidFill>
              </a:rPr>
              <a:t>Rubric coverage: product quality • novelty • technical depth • phone use • Office Kit • demo</a:t>
            </a:r>
          </a:p>
        </p:txBody>
      </p:sp>
    </p:spTree>
    <p:extLst>
      <p:ext uri="{BB962C8B-B14F-4D97-AF65-F5344CB8AC3E}">
        <p14:creationId xmlns:p14="http://schemas.microsoft.com/office/powerpoint/2010/main" val="15557280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2C663C-ED69-4034-8F90-278B0FFD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SLIDE 08  •  CLOSING +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C3609-007B-4AC2-9A21-696E0E23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EFF"/>
                </a:solidFill>
              </a:defRPr>
            </a:pPr>
            <a:r>
              <a:rPr sz="975" b="1">
                <a:solidFill>
                  <a:srgbClr val="DDEEFF"/>
                </a:solidFill>
              </a:rPr>
              <a:t>TEAM ANKOR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4B405-45A2-4DFC-80FC-BE69648C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4936E-3111-438B-A2CD-68494A8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EEFF"/>
                </a:solidFill>
              </a:defRPr>
            </a:pPr>
            <a:r>
              <a:rPr sz="1950" b="1">
                <a:solidFill>
                  <a:srgbClr val="DDEEFF"/>
                </a:solidFill>
              </a:rPr>
              <a:t>A promise becomes defensible only when it is structured, verified and linked back to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5D694-FB4B-4A1F-8CC1-5DC114AA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19112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2A49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38854-BC89-4B50-AF37-8382FA2E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WHAT THE LIVE DEMO PROVES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D55C4-2D46-4AE8-B7E8-AE10EE1C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9CC6D-C52C-4C27-B4C0-341BEE7F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Capture ad + invoice on the phone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7515A-02FB-498B-BCA7-8ABD297F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F5195-8093-4699-8A69-E2E383C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Build canonical claims locally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7554E-EC0A-4FA9-8885-C9A7DC42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578C3-2415-453D-A5D3-37D78EED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Reconcile promise against final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93309-8187-467C-8FEE-6D28302F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F8FE2-36ED-44F2-86D9-EDAC5CA1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Show +₹2,148 with source locators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6AC6C-195C-48D9-9F63-7F648106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53FA3-0272-4FF9-A1C5-B22037A2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Generate neutral clarification 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177EE-F691-49EA-8858-88796A27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429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9219D-B138-4C76-A7A0-FE7AFC17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QUESTIONS  •  ARCHITECTURE  •  LIVE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F30E6-0499-4C48-A151-09611D78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95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END-TO-END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BC524-F9DF-4F99-8F55-92AB9BA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144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CE7EB-FB28-4F91-830E-610385C3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382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6C293-FB1E-4EC1-B767-00BD6F18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38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sha256 + source locator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642D3-2F48-4A34-B69A-2E2D4D3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E5205-BADD-47DE-BF8E-6230595A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501931-2799-47E6-A867-621DB463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907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CLAIM GRAPH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37D44-F48E-4723-9894-4FA80781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907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typed value + condition + authority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3F65C-F10D-4AFB-B885-91601390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240212-A6F6-4600-AEA3-CC0901BC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F8294-3A24-4660-A6A6-79E7C0FB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432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VERIFIER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EED12B-2931-4BD2-B75A-3DE6D5BA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43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retrieval → constraints → cost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A9709E-8BA2-4275-A457-2EFF88C1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C7D775-2FAE-48BC-8550-93E91A4D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E18F9D-82C5-4891-AE20-3DE792BC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957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LEDGER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3E5BBC-EBAE-482F-9E66-E65DCA4B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957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status + explanation +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4B0166-7960-4E89-95DA-3A2CC81C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95900"/>
            <a:ext cx="476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745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4FEFDB-4178-4137-B663-4770A2FC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578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1D2E7"/>
                </a:solidFill>
              </a:defRPr>
            </a:pPr>
            <a:r>
              <a:rPr sz="900" b="1">
                <a:solidFill>
                  <a:srgbClr val="51D2E7"/>
                </a:solidFill>
              </a:rPr>
              <a:t>DEFAULT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D187A-E1EB-4E43-BCD3-ACA64B5B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292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local evidence • deterministic money • fail-closed uncertainty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094F56-C08C-49CF-B5CD-8B9E4A5F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DealTwin  •  Remember the promise. Verify the deal.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963B8D-6B45-4C8F-A809-AE1E40DA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EFF"/>
                </a:solidFill>
              </a:defRPr>
            </a:pPr>
            <a:r>
              <a:rPr sz="900" b="1">
                <a:solidFill>
                  <a:srgbClr val="DDEE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67791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2026-08-24T17:26:27.6980000Z</dcterms:created>
  <dcterms:modified xsi:type="dcterms:W3CDTF">2026-08-24T17:26:27.6980000Z</dcterms:modified>
</coreProperties>
</file>