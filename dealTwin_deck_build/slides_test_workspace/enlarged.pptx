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40c40cd54e404fb3" Type="http://schemas.openxmlformats.org/package/2006/relationships/metadata/core-properties" Target="docProps/core.xml"/><Relationship Id="R8a322d363b094d3c" Type="http://schemas.openxmlformats.org/officeDocument/2006/relationships/extended-properties" Target="docProps/app.xml"/><Relationship Id="Rc3903484e6e2479b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2e70755993475f"/>
  </p:sldMasterIdLst>
  <p:notesMasterIdLst>
    <p:notesMasterId xmlns:r="http://schemas.openxmlformats.org/officeDocument/2006/relationships" r:id="Rec3058fd689b4006"/>
  </p:notesMasterIdLst>
  <p:sldIdLst>
    <p:sldId xmlns:r="http://schemas.openxmlformats.org/officeDocument/2006/relationships" id="256" r:id="Rfe2449b744694c86"/>
    <p:sldId xmlns:r="http://schemas.openxmlformats.org/officeDocument/2006/relationships" id="257" r:id="R1d16e0cd579142df"/>
    <p:sldId xmlns:r="http://schemas.openxmlformats.org/officeDocument/2006/relationships" id="258" r:id="Rd1b72c0acf32431e"/>
    <p:sldId xmlns:r="http://schemas.openxmlformats.org/officeDocument/2006/relationships" id="259" r:id="Rc974d0b3f3414f43"/>
    <p:sldId xmlns:r="http://schemas.openxmlformats.org/officeDocument/2006/relationships" id="260" r:id="R311546bc2b8841a0"/>
    <p:sldId xmlns:r="http://schemas.openxmlformats.org/officeDocument/2006/relationships" id="261" r:id="Rf97a5bf71a5544ea"/>
    <p:sldId xmlns:r="http://schemas.openxmlformats.org/officeDocument/2006/relationships" id="262" r:id="R7210859ab31f4fe6"/>
    <p:sldId xmlns:r="http://schemas.openxmlformats.org/officeDocument/2006/relationships" id="263" r:id="R2a6f7b2cb672482f"/>
    <p:sldId xmlns:r="http://schemas.openxmlformats.org/officeDocument/2006/relationships" id="264" r:id="R4101a6d65da94be9"/>
    <p:sldId xmlns:r="http://schemas.openxmlformats.org/officeDocument/2006/relationships" id="265" r:id="R87e793fea5694834"/>
  </p:sldIdLst>
  <p:sldSz cx="13716000" cy="838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1d16e0cd579142df" Type="http://schemas.openxmlformats.org/officeDocument/2006/relationships/slide" Target="slides/slide2.xml"/><Relationship Id="R1f5cca94bbe041bf" Type="http://schemas.openxmlformats.org/officeDocument/2006/relationships/theme" Target="theme/theme1.xml"/><Relationship Id="R2a6f7b2cb672482f" Type="http://schemas.openxmlformats.org/officeDocument/2006/relationships/slide" Target="slides/slide8.xml"/><Relationship Id="R311546bc2b8841a0" Type="http://schemas.openxmlformats.org/officeDocument/2006/relationships/slide" Target="slides/slide5.xml"/><Relationship Id="R4101a6d65da94be9" Type="http://schemas.openxmlformats.org/officeDocument/2006/relationships/slide" Target="slides/slide9.xml"/><Relationship Id="R43e3819d3b754fad" Type="http://schemas.openxmlformats.org/officeDocument/2006/relationships/tableStyles" Target="tableStyles.xml"/><Relationship Id="R46d13ff39b2c497b" Type="http://schemas.openxmlformats.org/officeDocument/2006/relationships/presProps" Target="presProps.xml"/><Relationship Id="R7210859ab31f4fe6" Type="http://schemas.openxmlformats.org/officeDocument/2006/relationships/slide" Target="slides/slide7.xml"/><Relationship Id="R87e793fea5694834" Type="http://schemas.openxmlformats.org/officeDocument/2006/relationships/slide" Target="slides/slide10.xml"/><Relationship Id="Rc974d0b3f3414f43" Type="http://schemas.openxmlformats.org/officeDocument/2006/relationships/slide" Target="slides/slide4.xml"/><Relationship Id="Rd1b72c0acf32431e" Type="http://schemas.openxmlformats.org/officeDocument/2006/relationships/slide" Target="slides/slide3.xml"/><Relationship Id="Rdd2e70755993475f" Type="http://schemas.openxmlformats.org/officeDocument/2006/relationships/slideMaster" Target="slideMasters/slideMaster1.xml"/><Relationship Id="Rec3058fd689b4006" Type="http://schemas.openxmlformats.org/officeDocument/2006/relationships/notesMaster" Target="notesMasters/notesMaster1.xml"/><Relationship Id="Rf97a5bf71a5544ea" Type="http://schemas.openxmlformats.org/officeDocument/2006/relationships/slide" Target="slides/slide6.xml"/><Relationship Id="Rfe2449b744694c86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e6fe2d81baed40bb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31780da72aa146ae" Type="http://schemas.openxmlformats.org/officeDocument/2006/relationships/notesMaster" Target="../notesMasters/notesMaster1.xml"/><Relationship Id="R96a9aa1dbc3449d5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4bb42e5b01e04863" Type="http://schemas.openxmlformats.org/officeDocument/2006/relationships/slide" Target="../slides/slide2.xml"/><Relationship Id="Rdda04eb308f14559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3626069b6d754623" Type="http://schemas.openxmlformats.org/officeDocument/2006/relationships/slide" Target="../slides/slide3.xml"/><Relationship Id="R947904d82f8d427c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01b703394607420d" Type="http://schemas.openxmlformats.org/officeDocument/2006/relationships/slide" Target="../slides/slide4.xml"/><Relationship Id="Re35b8044a7fb4e4e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8f3f88a729fa4b01" Type="http://schemas.openxmlformats.org/officeDocument/2006/relationships/slide" Target="../slides/slide5.xml"/><Relationship Id="Rd2d411ba9cb34de5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35cd19e46f6a4a72" Type="http://schemas.openxmlformats.org/officeDocument/2006/relationships/slide" Target="../slides/slide6.xml"/><Relationship Id="R95a4a495ab7c40b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2ea31d0122364ce4" Type="http://schemas.openxmlformats.org/officeDocument/2006/relationships/slide" Target="../slides/slide7.xml"/><Relationship Id="Rf685ccf08b764c9b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54483128f5444a2f" Type="http://schemas.openxmlformats.org/officeDocument/2006/relationships/slide" Target="../slides/slide8.xml"/><Relationship Id="Ra39b13cd35c2457f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de2f894fe04c4317" Type="http://schemas.openxmlformats.org/officeDocument/2006/relationships/notesMaster" Target="../notesMasters/notesMaster1.xml"/><Relationship Id="Re8ac6a6484ca475f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7808381ee68348f9" Type="http://schemas.openxmlformats.org/officeDocument/2006/relationships/slide" Target="../slides/slide10.xml"/><Relationship Id="Rb2d852e00ad64f92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47fed892f2e34b36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83d50a220393454d" Type="http://schemas.openxmlformats.org/officeDocument/2006/relationships/slideLayout" Target="../slideLayouts/slideLayout1.xml"/><Relationship Id="R9479c964742c42f8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d50a22039345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49f14ca4fdec4712" Type="http://schemas.openxmlformats.org/officeDocument/2006/relationships/notesSlide" Target="../notesSlides/notesSlide1.xml"/><Relationship Id="R6f7ebcb490814231" Type="http://schemas.openxmlformats.org/officeDocument/2006/relationships/image" Target="../media/image.png"/><Relationship Id="Rea3978f0f3564d18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928136ccc37a42f6" Type="http://schemas.openxmlformats.org/officeDocument/2006/relationships/slideLayout" Target="../slideLayouts/slideLayout1.xml"/><Relationship Id="Rd8b56222a75e4ace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634195d5b34f4bbc" Type="http://schemas.openxmlformats.org/officeDocument/2006/relationships/notesSlide" Target="../notesSlides/notesSlide3.xml"/><Relationship Id="Rc4c91bdb2eec47f6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800cdf3d6d664f8f" Type="http://schemas.openxmlformats.org/officeDocument/2006/relationships/notesSlide" Target="../notesSlides/notesSlide4.xml"/><Relationship Id="Rb4e833a9975e4d4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8869238daf2c4da5" Type="http://schemas.openxmlformats.org/officeDocument/2006/relationships/slideLayout" Target="../slideLayouts/slideLayout1.xml"/><Relationship Id="Rfc2d5a1d5be74c0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3d09854559994a4f" Type="http://schemas.openxmlformats.org/officeDocument/2006/relationships/slideLayout" Target="../slideLayouts/slideLayout1.xml"/><Relationship Id="Re03b98c2d2dc4dbc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847ebe982c9c44ed" Type="http://schemas.openxmlformats.org/officeDocument/2006/relationships/slideLayout" Target="../slideLayouts/slideLayout1.xml"/><Relationship Id="Ra376be1d82984f87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4ec8080f05a34401" Type="http://schemas.openxmlformats.org/officeDocument/2006/relationships/notesSlide" Target="../notesSlides/notesSlide8.xml"/><Relationship Id="Rd2f6060ce7ec48f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43493d9c622a4d5c" Type="http://schemas.openxmlformats.org/officeDocument/2006/relationships/notesSlide" Target="../notesSlides/notesSlide9.xml"/><Relationship Id="Rbf419545d129450e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7e37176a048f4521" Type="http://schemas.openxmlformats.org/officeDocument/2006/relationships/slideLayout" Target="../slideLayouts/slideLayout1.xml"/><Relationship Id="Rfb993082c655498e" Type="http://schemas.openxmlformats.org/officeDocument/2006/relationships/notesSlide" Target="../notesSlides/notesSlide10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5" name="Rectangle 14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4" name="Rectangle 13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3" name="Rectangle 12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2" name="Rectangle 11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7ebcb490814231"/>
          <a:srcRect xmlns:a="http://schemas.openxmlformats.org/drawingml/2006/main" l="23814" t="0" r="238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762000"/>
            <a:ext cx="6381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A75B97-85A6-4A9E-94B8-708A1FBA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BA645-02B4-4E27-A4E3-90D9B1DC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525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80ED"/>
                </a:solidFill>
              </a:defRPr>
            </a:pPr>
            <a:r>
              <a:rPr sz="1050" b="1">
                <a:solidFill>
                  <a:srgbClr val="2F80ED"/>
                </a:solidFill>
              </a:rPr>
              <a:t>iQOO HACKATHON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87D9FE-333C-4C28-8B38-8A8AD6C06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43150"/>
            <a:ext cx="4667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B1F3A"/>
                </a:solidFill>
              </a:defRPr>
            </a:pPr>
            <a:r>
              <a:rPr sz="4800" b="1">
                <a:solidFill>
                  <a:srgbClr val="0B1F3A"/>
                </a:solidFill>
              </a:rPr>
              <a:t>DealTwin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486AC7-384C-41D7-B7AF-6DCA9EBD9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263F"/>
                </a:solidFill>
              </a:defRPr>
            </a:pPr>
            <a:r>
              <a:rPr sz="2100" b="1">
                <a:solidFill>
                  <a:srgbClr val="15263F"/>
                </a:solidFill>
              </a:rPr>
              <a:t>The memory every purchase should have.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F9AA90-DFE8-4DBA-B419-D5CBBA7C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457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188"/>
                </a:solidFill>
              </a:defRPr>
            </a:pPr>
            <a:r>
              <a:rPr sz="1500" b="0">
                <a:solidFill>
                  <a:srgbClr val="607188"/>
                </a:solidFill>
              </a:rPr>
              <a:t>Capture what was promised. Compare it with what you sign. Understand the true deal before you pay.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F6A046-9CB1-4132-B346-1E4F5FB8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10200"/>
            <a:ext cx="2619375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A29519-8D74-4398-B9C9-730B5487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486400"/>
            <a:ext cx="2390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F3A"/>
                </a:solidFill>
              </a:defRPr>
            </a:pPr>
            <a:r>
              <a:rPr sz="975" b="1">
                <a:solidFill>
                  <a:srgbClr val="0B1F3A"/>
                </a:solidFill>
              </a:rPr>
              <a:t>MOBILE-FIRST • LOCAL-FIRST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C64D3A-56AD-4FF6-8429-67656C52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5532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Presented by TEAM ANKOR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9D9EB6-8E0A-4638-9618-6ADF1E46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9056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188"/>
                </a:solidFill>
              </a:defRPr>
            </a:pPr>
            <a:r>
              <a:rPr sz="1125" b="0">
                <a:solidFill>
                  <a:srgbClr val="607188"/>
                </a:solidFill>
              </a:rPr>
              <a:t>Remember the promise. Verify the deal.</a:t>
            </a:r>
          </a:p>
        </p:txBody>
      </p:sp>
    </p:spTree>
    <p:extLst>
      <p:ext uri="{BB962C8B-B14F-4D97-AF65-F5344CB8AC3E}">
        <p14:creationId xmlns:p14="http://schemas.microsoft.com/office/powerpoint/2010/main" val="4370474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3" name="Rectangle 32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2" name="Rectangle 31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1" name="Rectangle 30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0" name="Rectangle 29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EED8D2-73CA-4D03-828F-3C83E9D3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0572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1F3A"/>
                </a:solidFill>
              </a:defRPr>
            </a:pPr>
            <a:r>
              <a:rPr sz="975" b="1">
                <a:solidFill>
                  <a:srgbClr val="0B1F3A"/>
                </a:solidFill>
              </a:rPr>
              <a:t>TEAM ANKOR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43D199-239F-4DB6-A1EA-66ED158E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0572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188"/>
                </a:solidFill>
              </a:defRPr>
            </a:pPr>
            <a:r>
              <a:rPr sz="975" b="1">
                <a:solidFill>
                  <a:srgbClr val="607188"/>
                </a:solidFill>
              </a:rPr>
              <a:t>THE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5E65CD-23A0-425D-95D5-60260722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3525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DF72F8-6827-4FCE-9906-1A8A6D77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71437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88"/>
                </a:solidFill>
              </a:defRPr>
            </a:pPr>
            <a:r>
              <a:rPr sz="900" b="1">
                <a:solidFill>
                  <a:srgbClr val="607188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05F6AF-8015-4C64-A229-C460A77E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14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80ED"/>
                </a:solidFill>
              </a:defRPr>
            </a:pPr>
            <a:r>
              <a:rPr sz="1050" b="1">
                <a:solidFill>
                  <a:srgbClr val="2F80ED"/>
                </a:solidFill>
              </a:rPr>
              <a:t>A FAMILIAR CONSUMER FAILURE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3677B5-E1E1-455D-8DB6-AE23BC12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57400"/>
            <a:ext cx="742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B1F3A"/>
                </a:solidFill>
              </a:defRPr>
            </a:pPr>
            <a:r>
              <a:rPr sz="3450" b="1">
                <a:solidFill>
                  <a:srgbClr val="0B1F3A"/>
                </a:solidFill>
              </a:rPr>
              <a:t>The deal people understand often changes before they sign.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1DF5CD-E393-45D3-9A96-0ED69DE9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4325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188"/>
                </a:solidFill>
              </a:defRPr>
            </a:pPr>
            <a:r>
              <a:rPr sz="1500" b="0">
                <a:solidFill>
                  <a:srgbClr val="607188"/>
                </a:solidFill>
              </a:rPr>
              <a:t>Promises live in one place. Fees, exclusions and altered terms appear somewhere else.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7B09EC-BC72-4CAA-B218-4BFDF1D2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43375"/>
            <a:ext cx="209550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88221C-9F13-4C65-9DD5-8E31407F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2481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80ED"/>
                </a:solidFill>
              </a:defRPr>
            </a:pPr>
            <a:r>
              <a:rPr sz="825" b="1">
                <a:solidFill>
                  <a:srgbClr val="2F80ED"/>
                </a:solidFill>
              </a:rPr>
              <a:t>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ABD33F-A3D7-408E-BF69-6053625D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2672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63F"/>
                </a:solidFill>
              </a:defRPr>
            </a:pPr>
            <a:r>
              <a:rPr sz="1200" b="1">
                <a:solidFill>
                  <a:srgbClr val="15263F"/>
                </a:solidFill>
              </a:rPr>
              <a:t>No-cost EMI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8CF402-70E9-483F-AAD5-64A54845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10125"/>
            <a:ext cx="209550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AFCE-B1E0-4996-B50D-4D8BA3FE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9149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80ED"/>
                </a:solidFill>
              </a:defRPr>
            </a:pPr>
            <a:r>
              <a:rPr sz="825" b="1">
                <a:solidFill>
                  <a:srgbClr val="2F80ED"/>
                </a:solidFill>
              </a:rPr>
              <a:t>VOICE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EC2954-BDDE-4ABA-BD75-FB8D0481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9339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63F"/>
                </a:solidFill>
              </a:defRPr>
            </a:pPr>
            <a:r>
              <a:rPr sz="1200" b="1">
                <a:solidFill>
                  <a:srgbClr val="15263F"/>
                </a:solidFill>
              </a:rPr>
              <a:t>Free insurance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2A7BDB-156D-4490-B7BB-A9EB5076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476875"/>
            <a:ext cx="209550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D89F96-BCFE-43AF-A6F1-15FB3516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581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80ED"/>
                </a:solidFill>
              </a:defRPr>
            </a:pPr>
            <a:r>
              <a:rPr sz="825" b="1">
                <a:solidFill>
                  <a:srgbClr val="2F80ED"/>
                </a:solidFill>
              </a:rPr>
              <a:t>CHAT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FECF9B-6F71-4171-9DEE-D0038744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6007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63F"/>
                </a:solidFill>
              </a:defRPr>
            </a:pPr>
            <a:r>
              <a:rPr sz="1200" b="1">
                <a:solidFill>
                  <a:srgbClr val="15263F"/>
                </a:solidFill>
              </a:rPr>
              <a:t>2-year warranty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429022-D798-4594-BA9D-FDD1B93F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76750"/>
            <a:ext cx="209550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FCE9EC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E8DA2B-7AD4-4E02-9085-1D929168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581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80ED"/>
                </a:solidFill>
              </a:defRPr>
            </a:pPr>
            <a:r>
              <a:rPr sz="825" b="1">
                <a:solidFill>
                  <a:srgbClr val="2F80ED"/>
                </a:solidFill>
              </a:rPr>
              <a:t>INVOICE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43DAF5-7D71-4A4C-9D10-050F9EB1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00575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63F"/>
                </a:solidFill>
              </a:defRPr>
            </a:pPr>
            <a:r>
              <a:rPr sz="1200" b="1">
                <a:solidFill>
                  <a:srgbClr val="15263F"/>
                </a:solidFill>
              </a:rPr>
              <a:t>+ Processing fee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2FD88E-9F74-4AEB-ABEF-CC6E7D84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238750"/>
            <a:ext cx="209550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FCE9EC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D029D9-5DF6-4365-B354-2F611F01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343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80ED"/>
                </a:solidFill>
              </a:defRPr>
            </a:pPr>
            <a:r>
              <a:rPr sz="825" b="1">
                <a:solidFill>
                  <a:srgbClr val="2F80ED"/>
                </a:solidFill>
              </a:rPr>
              <a:t>KFS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61F728-EA7D-4FD2-8885-6ABB053DE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362575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63F"/>
                </a:solidFill>
              </a:defRPr>
            </a:pPr>
            <a:r>
              <a:rPr sz="1200" b="1">
                <a:solidFill>
                  <a:srgbClr val="15263F"/>
                </a:solidFill>
              </a:rPr>
              <a:t>Cash discount lost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12C17F-43E4-4EFE-B78A-E6707C49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905375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F80ED"/>
                </a:solidFill>
              </a:defRPr>
            </a:pPr>
            <a:r>
              <a:rPr sz="3300" b="1">
                <a:solidFill>
                  <a:srgbClr val="2F80ED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E092C6-DC48-429A-ADC5-2847E106E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48125"/>
            <a:ext cx="4762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20D11A-E3BF-4AFC-932F-0CE0D275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3148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188"/>
                </a:solidFill>
              </a:defRPr>
            </a:pPr>
            <a:r>
              <a:rPr sz="975" b="1">
                <a:solidFill>
                  <a:srgbClr val="607188"/>
                </a:solidFill>
              </a:rPr>
              <a:t>THE FINAL DEAL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BDF703-36C8-49A8-8118-5BA9BC46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68630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24B5B"/>
                </a:solidFill>
              </a:defRPr>
            </a:pPr>
            <a:r>
              <a:rPr sz="3150" b="1">
                <a:solidFill>
                  <a:srgbClr val="E24B5B"/>
                </a:solidFill>
              </a:rPr>
              <a:t>₹2,148 more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657F52-03B2-4A5C-B829-0973BD4F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2387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263F"/>
                </a:solidFill>
              </a:defRPr>
            </a:pPr>
            <a:r>
              <a:rPr sz="1350" b="1">
                <a:solidFill>
                  <a:srgbClr val="15263F"/>
                </a:solidFill>
              </a:rPr>
              <a:t>than the customer expected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F67CB1-61DE-4CB0-A4B9-D861A090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6769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188"/>
                </a:solidFill>
              </a:defRPr>
            </a:pPr>
            <a:r>
              <a:rPr sz="1275" b="0">
                <a:solidFill>
                  <a:srgbClr val="607188"/>
                </a:solidFill>
              </a:rPr>
              <a:t>The problem is not missing information. It is missing comparison.</a:t>
            </a:r>
          </a:p>
        </p:txBody>
      </p:sp>
    </p:spTree>
    <p:extLst>
      <p:ext uri="{BB962C8B-B14F-4D97-AF65-F5344CB8AC3E}">
        <p14:creationId xmlns:p14="http://schemas.microsoft.com/office/powerpoint/2010/main" val="2459764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1" name="Rectangle 30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0" name="Rectangle 29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9" name="Rectangle 28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8" name="Rectangle 27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116D31-BE1E-4AB0-B834-517DAAB3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0572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1F3A"/>
                </a:solidFill>
              </a:defRPr>
            </a:pPr>
            <a:r>
              <a:rPr sz="975" b="1">
                <a:solidFill>
                  <a:srgbClr val="0B1F3A"/>
                </a:solidFill>
              </a:rPr>
              <a:t>TEAM ANKOR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BA3929-D587-41C2-B91C-ACB736DA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0572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188"/>
                </a:solidFill>
              </a:defRPr>
            </a:pPr>
            <a:r>
              <a:rPr sz="975" b="1">
                <a:solidFill>
                  <a:srgbClr val="607188"/>
                </a:solidFill>
              </a:rPr>
              <a:t>THE 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33B875-C967-4D9B-88F1-CC54B996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3525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03E0EC-6E34-4C91-AAA7-BB247F8A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71437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88"/>
                </a:solidFill>
              </a:defRPr>
            </a:pPr>
            <a:r>
              <a:rPr sz="900" b="1">
                <a:solidFill>
                  <a:srgbClr val="607188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EAE78A-B814-4D11-869A-FF20158D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14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80ED"/>
                </a:solidFill>
              </a:defRPr>
            </a:pPr>
            <a:r>
              <a:rPr sz="1050" b="1">
                <a:solidFill>
                  <a:srgbClr val="2F80ED"/>
                </a:solidFill>
              </a:rPr>
              <a:t>NOT ANOTHER DOCUMENT SUMMARIZER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7E4057-BD8F-434E-89F1-70BE98AA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57400"/>
            <a:ext cx="742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B1F3A"/>
                </a:solidFill>
              </a:defRPr>
            </a:pPr>
            <a:r>
              <a:rPr sz="3450" b="1">
                <a:solidFill>
                  <a:srgbClr val="0B1F3A"/>
                </a:solidFill>
              </a:rPr>
              <a:t>DealTwin builds a verifiable Promise Ledger.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3E6080-3EF7-46DB-B70B-4C2370C4C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4325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188"/>
                </a:solidFill>
              </a:defRPr>
            </a:pPr>
            <a:r>
              <a:rPr sz="1500" b="0">
                <a:solidFill>
                  <a:srgbClr val="607188"/>
                </a:solidFill>
              </a:rPr>
              <a:t>Every conclusion points back to the exact screenshot, clause or consented audio timestamp.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469CAC-07C3-4814-BFAA-12FFE72B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33850"/>
            <a:ext cx="2809875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2CB1E3-03FB-43DE-B5ED-CBE6600B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223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PROMISE</a:t>
            </a:r>
          </a:p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LEDGER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251A75-DACB-4001-AB53-57032CF9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81625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EFF"/>
                </a:solidFill>
              </a:defRPr>
            </a:pPr>
            <a:r>
              <a:rPr sz="1275" b="0">
                <a:solidFill>
                  <a:srgbClr val="DCEEFF"/>
                </a:solidFill>
              </a:rPr>
              <a:t>What was said</a:t>
            </a:r>
          </a:p>
          <a:p xmlns:a="http://schemas.openxmlformats.org/drawingml/2006/main">
            <a:pPr algn="l">
              <a:defRPr sz="1275" b="0">
                <a:solidFill>
                  <a:srgbClr val="DCEEFF"/>
                </a:solidFill>
              </a:defRPr>
            </a:pPr>
            <a:r>
              <a:rPr sz="1275" b="0">
                <a:solidFill>
                  <a:srgbClr val="DCEEFF"/>
                </a:solidFill>
              </a:rPr>
              <a:t>What was signed</a:t>
            </a:r>
          </a:p>
          <a:p xmlns:a="http://schemas.openxmlformats.org/drawingml/2006/main">
            <a:pPr algn="l">
              <a:defRPr sz="1275" b="0">
                <a:solidFill>
                  <a:srgbClr val="DCEEFF"/>
                </a:solidFill>
              </a:defRPr>
            </a:pPr>
            <a:r>
              <a:rPr sz="1275" b="0">
                <a:solidFill>
                  <a:srgbClr val="DCEEFF"/>
                </a:solidFill>
              </a:rPr>
              <a:t>What changed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2AC433-E101-4662-9774-7D09EE4E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038600"/>
            <a:ext cx="7286625" cy="600075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A605D0-A710-478E-BE89-CBE1CC49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1910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63F"/>
                </a:solidFill>
              </a:defRPr>
            </a:pPr>
            <a:r>
              <a:rPr sz="1275" b="1">
                <a:solidFill>
                  <a:srgbClr val="15263F"/>
                </a:solidFill>
              </a:rPr>
              <a:t>No-cost EMI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23A527-7A04-42E1-9932-526D2161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62425"/>
            <a:ext cx="1428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CE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233A71-5CB1-49F8-AC55-39093B7D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38625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24B5B"/>
                </a:solidFill>
              </a:defRPr>
            </a:pPr>
            <a:r>
              <a:rPr sz="975" b="1">
                <a:solidFill>
                  <a:srgbClr val="E24B5B"/>
                </a:solidFill>
              </a:rPr>
              <a:t>CHANGED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86B921-385A-44E5-912B-666D3FE1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210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188"/>
                </a:solidFill>
              </a:defRPr>
            </a:pPr>
            <a:r>
              <a:rPr sz="1050" b="0">
                <a:solidFill>
                  <a:srgbClr val="607188"/>
                </a:solidFill>
              </a:rPr>
              <a:t>Invoice §4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F625B1-C2C4-4F52-90C0-8596033F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733925"/>
            <a:ext cx="7286625" cy="600075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01BA2D-38B5-4639-AF29-9D61622A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8863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63F"/>
                </a:solidFill>
              </a:defRPr>
            </a:pPr>
            <a:r>
              <a:rPr sz="1275" b="1">
                <a:solidFill>
                  <a:srgbClr val="15263F"/>
                </a:solidFill>
              </a:rPr>
              <a:t>2-year warranty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A4126A-C726-4EB4-BD48-5245AB8E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57750"/>
            <a:ext cx="1428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4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3E27F7-254A-4FE9-9F9B-2DEDE56C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933950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7B67A"/>
                </a:solidFill>
              </a:defRPr>
            </a:pPr>
            <a:r>
              <a:rPr sz="975" b="1">
                <a:solidFill>
                  <a:srgbClr val="27B67A"/>
                </a:solidFill>
              </a:rPr>
              <a:t>KEPT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E85B79-F687-43DE-AFC1-AE8CE9B9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9053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188"/>
                </a:solidFill>
              </a:defRPr>
            </a:pPr>
            <a:r>
              <a:rPr sz="1050" b="0">
                <a:solidFill>
                  <a:srgbClr val="607188"/>
                </a:solidFill>
              </a:rPr>
              <a:t>Warranty card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790A34-2CD4-462B-8BF1-6F01BA54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429250"/>
            <a:ext cx="7286625" cy="600075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A54D37-1E89-4E54-B5E6-0E181EA9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5816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63F"/>
                </a:solidFill>
              </a:defRPr>
            </a:pPr>
            <a:r>
              <a:rPr sz="1275" b="1">
                <a:solidFill>
                  <a:srgbClr val="15263F"/>
                </a:solidFill>
              </a:rPr>
              <a:t>Free insurance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8604FC-FFCE-4EB9-BE3C-B9524E6B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553075"/>
            <a:ext cx="1428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CE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82E076-363D-44AD-A70E-6BB9848F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629275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24B5B"/>
                </a:solidFill>
              </a:defRPr>
            </a:pPr>
            <a:r>
              <a:rPr sz="975" b="1">
                <a:solidFill>
                  <a:srgbClr val="E24B5B"/>
                </a:solidFill>
              </a:rPr>
              <a:t>MISSING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FD850B-7C8E-47F1-B059-3FA7A3BF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6007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188"/>
                </a:solidFill>
              </a:defRPr>
            </a:pPr>
            <a:r>
              <a:rPr sz="1050" b="0">
                <a:solidFill>
                  <a:srgbClr val="607188"/>
                </a:solidFill>
              </a:rPr>
              <a:t>KFS + invoice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604042-FEAB-4BBF-B60B-42811093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6248400"/>
            <a:ext cx="728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7188"/>
                </a:solidFill>
              </a:defRPr>
            </a:pPr>
            <a:r>
              <a:rPr sz="1200" b="1">
                <a:solidFill>
                  <a:srgbClr val="607188"/>
                </a:solidFill>
              </a:rPr>
              <a:t>Five evidence-based outcomes: Kept • Changed • Missing • Contradicted • Unverifiable</a:t>
            </a:r>
          </a:p>
        </p:txBody>
      </p:sp>
    </p:spTree>
    <p:extLst>
      <p:ext uri="{BB962C8B-B14F-4D97-AF65-F5344CB8AC3E}">
        <p14:creationId xmlns:p14="http://schemas.microsoft.com/office/powerpoint/2010/main" val="13631415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42" name="Rectangle 41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1" name="Rectangle 40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0" name="Rectangle 39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9" name="Rectangle 38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42E97B-88D1-4D6E-BB27-FC3244AA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0572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1F3A"/>
                </a:solidFill>
              </a:defRPr>
            </a:pPr>
            <a:r>
              <a:rPr sz="975" b="1">
                <a:solidFill>
                  <a:srgbClr val="0B1F3A"/>
                </a:solidFill>
              </a:rPr>
              <a:t>TEAM ANKOR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9FE180-863D-42FB-9F8C-1ADA6C14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0572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188"/>
                </a:solidFill>
              </a:defRPr>
            </a:pPr>
            <a:r>
              <a:rPr sz="975" b="1">
                <a:solidFill>
                  <a:srgbClr val="607188"/>
                </a:solidFill>
              </a:rPr>
              <a:t>MOBILE-FIRST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E139F1-5F33-4BA5-8919-95C6A6EA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3525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A69B4-CBA5-4237-9C80-38BB4C27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71437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88"/>
                </a:solidFill>
              </a:defRPr>
            </a:pPr>
            <a:r>
              <a:rPr sz="900" b="1">
                <a:solidFill>
                  <a:srgbClr val="607188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62EA1F-CD72-4D63-90FA-C007A699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14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80ED"/>
                </a:solidFill>
              </a:defRPr>
            </a:pPr>
            <a:r>
              <a:rPr sz="1050" b="1">
                <a:solidFill>
                  <a:srgbClr val="2F80ED"/>
                </a:solidFill>
              </a:rPr>
              <a:t>THE PHONE IS THE PRODUCT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13DDAF-3CCD-4982-9E1D-3EAA10CB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57400"/>
            <a:ext cx="742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B1F3A"/>
                </a:solidFill>
              </a:defRPr>
            </a:pPr>
            <a:r>
              <a:rPr sz="3450" b="1">
                <a:solidFill>
                  <a:srgbClr val="0B1F3A"/>
                </a:solidFill>
              </a:rPr>
              <a:t>One iQOO phone turns scattered evidence into action.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F79730-5902-42FE-949B-0A3AD101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4325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188"/>
                </a:solidFill>
              </a:defRPr>
            </a:pPr>
            <a:r>
              <a:rPr sz="1500" b="0">
                <a:solidFill>
                  <a:srgbClr val="607188"/>
                </a:solidFill>
              </a:rPr>
              <a:t>Camera, microphone and on-device AI make DealTwin useful at the exact moment a purchase is made.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7794A5-76E2-4FB7-B57B-84AD1769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38625"/>
            <a:ext cx="19050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F30103-E451-48B7-A407-45D43706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10075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B36753-57BC-49E4-986F-C9838F5E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862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6A5403-4F16-4F6B-977F-17955794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3395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Capture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54656E-F873-44BE-A410-B2F30EDC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76850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88"/>
                </a:solidFill>
              </a:defRPr>
            </a:pPr>
            <a:r>
              <a:rPr sz="1050" b="0">
                <a:solidFill>
                  <a:srgbClr val="607188"/>
                </a:solidFill>
              </a:rPr>
              <a:t>Ads, voice, screenshots and documents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4FFE3B-0D88-4BBA-8C0D-B6008238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238625"/>
            <a:ext cx="19050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896821-5AD1-4B13-804E-5FF3C940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410075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EE6038-0651-4A85-8BA0-5463333F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4862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F5F0DB-791F-4E2A-9551-316B3F89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93395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Understand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C25E5E-93D8-4DCA-9995-E177B15A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276850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88"/>
                </a:solidFill>
              </a:defRPr>
            </a:pPr>
            <a:r>
              <a:rPr sz="1050" b="0">
                <a:solidFill>
                  <a:srgbClr val="607188"/>
                </a:solidFill>
              </a:rPr>
              <a:t>Extract price, fee, EMI and warranty claims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14F913-0DE9-4285-B139-DB7A700A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238625"/>
            <a:ext cx="19050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955B2D-571B-4FA8-9711-FC6A003E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410075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121C31-E3EA-44F4-A2B2-5DC38896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4862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3BD38D-969A-4893-AA47-32DFF12A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93395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Compare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208FB4-096D-4786-96EC-D59C7D38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276850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88"/>
                </a:solidFill>
              </a:defRPr>
            </a:pPr>
            <a:r>
              <a:rPr sz="1050" b="0">
                <a:solidFill>
                  <a:srgbClr val="607188"/>
                </a:solidFill>
              </a:rPr>
              <a:t>Match the promise against final paperwork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97B4D0-4719-41FB-B24C-FB5DAB94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238625"/>
            <a:ext cx="19050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6C032F-F107-40F9-AC94-5E1AEED6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10075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4A4622-BD6E-41BD-8B8D-A38424EA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862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464087-37D6-4976-84C0-5EC57869C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93395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Calculate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4BD110-22FF-4F06-9A45-F4E87CC81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276850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88"/>
                </a:solidFill>
              </a:defRPr>
            </a:pPr>
            <a:r>
              <a:rPr sz="1050" b="0">
                <a:solidFill>
                  <a:srgbClr val="607188"/>
                </a:solidFill>
              </a:rPr>
              <a:t>Reconstruct the true payable cost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D9A0E4-814C-4AB6-AAEA-72FFE844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238625"/>
            <a:ext cx="19050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B14711-80AC-4346-A959-E3DB20E2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410075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FA4884-DDD3-4E95-9AD5-CCDF22E0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4862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A9B41A-72F9-43FF-97D2-92BFEB8E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93395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Act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E8A8B3-A386-42B1-B14F-AB15A773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276850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88"/>
                </a:solidFill>
              </a:defRPr>
            </a:pPr>
            <a:r>
              <a:rPr sz="1050" b="0">
                <a:solidFill>
                  <a:srgbClr val="607188"/>
                </a:solidFill>
              </a:rPr>
              <a:t>Generate a neutral seller clarification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1846DE-FA9E-48A7-9C29-013628C0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61912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80ED"/>
                </a:solidFill>
              </a:defRPr>
            </a:pPr>
            <a:r>
              <a:rPr sz="975" b="1">
                <a:solidFill>
                  <a:srgbClr val="2F80ED"/>
                </a:solidFill>
              </a:rPr>
              <a:t>ON-DEVICE OCR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F894BF-69B3-4A6A-95B2-01D2C025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61912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80ED"/>
                </a:solidFill>
              </a:defRPr>
            </a:pPr>
            <a:r>
              <a:rPr sz="975" b="1">
                <a:solidFill>
                  <a:srgbClr val="2F80ED"/>
                </a:solidFill>
              </a:rPr>
              <a:t>LOCAL / OPEN LLM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11E490-6C15-4214-92C3-55F581CE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61912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80ED"/>
                </a:solidFill>
              </a:defRPr>
            </a:pPr>
            <a:r>
              <a:rPr sz="975" b="1">
                <a:solidFill>
                  <a:srgbClr val="2F80ED"/>
                </a:solidFill>
              </a:rPr>
              <a:t>EVIDENCE LINKS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78F8A5A-4D1D-4FFD-ADE5-922E42762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61912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80ED"/>
                </a:solidFill>
              </a:defRPr>
            </a:pPr>
            <a:r>
              <a:rPr sz="975" b="1">
                <a:solidFill>
                  <a:srgbClr val="2F80ED"/>
                </a:solidFill>
              </a:rPr>
              <a:t>DETERMINISTIC MATH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5B11B52-736C-41B4-BB30-1B62F388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61912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80ED"/>
                </a:solidFill>
              </a:defRPr>
            </a:pPr>
            <a:r>
              <a:rPr sz="975" b="1">
                <a:solidFill>
                  <a:srgbClr val="2F80ED"/>
                </a:solidFill>
              </a:rPr>
              <a:t>SHAREABLE OUTPUT</a:t>
            </a:r>
          </a:p>
        </p:txBody>
      </p:sp>
    </p:spTree>
    <p:extLst>
      <p:ext uri="{BB962C8B-B14F-4D97-AF65-F5344CB8AC3E}">
        <p14:creationId xmlns:p14="http://schemas.microsoft.com/office/powerpoint/2010/main" val="20905229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4" name="Rectangle 23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3" name="Rectangle 22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2" name="Rectangle 21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A9FE36-3B4F-4346-8700-F16F04C7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0572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1F3A"/>
                </a:solidFill>
              </a:defRPr>
            </a:pPr>
            <a:r>
              <a:rPr sz="975" b="1">
                <a:solidFill>
                  <a:srgbClr val="0B1F3A"/>
                </a:solidFill>
              </a:rPr>
              <a:t>TEAM ANKOR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E230AC-7E10-4EDA-AB1C-4F1D52C9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0572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188"/>
                </a:solidFill>
              </a:defRPr>
            </a:pPr>
            <a:r>
              <a:rPr sz="975" b="1">
                <a:solidFill>
                  <a:srgbClr val="607188"/>
                </a:solidFill>
              </a:rPr>
              <a:t>FLAGSHIP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02C973-F551-497C-8547-A37875A1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3525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BF11DE-4E46-4CBC-BCD4-38664863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71437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88"/>
                </a:solidFill>
              </a:defRPr>
            </a:pPr>
            <a:r>
              <a:rPr sz="900" b="1">
                <a:solidFill>
                  <a:srgbClr val="607188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2755BD-94A3-404D-BF17-5994FC2F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14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80ED"/>
                </a:solidFill>
              </a:defRPr>
            </a:pPr>
            <a:r>
              <a:rPr sz="1050" b="1">
                <a:solidFill>
                  <a:srgbClr val="2F80ED"/>
                </a:solidFill>
              </a:rPr>
              <a:t>FOCUS CREATES RELIABILITY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5ACBB1-9C2D-45E5-B3FE-6268A5B3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57400"/>
            <a:ext cx="742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B1F3A"/>
                </a:solidFill>
              </a:defRPr>
            </a:pPr>
            <a:r>
              <a:rPr sz="3450" b="1">
                <a:solidFill>
                  <a:srgbClr val="0B1F3A"/>
                </a:solidFill>
              </a:rPr>
              <a:t>Start with the purchase journey people already distrust: no-cost EMI.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0C2AD4-8E1C-4810-B2DD-87BA528D7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4325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188"/>
                </a:solidFill>
              </a:defRPr>
            </a:pPr>
            <a:r>
              <a:rPr sz="1500" b="0">
                <a:solidFill>
                  <a:srgbClr val="607188"/>
                </a:solidFill>
              </a:rPr>
              <a:t>Electronics purchases combine advertisements, verbal offers, invoices, KFS documents and warranties—perfect for a convincing end-to-end demo.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95AB92-B479-4E34-9216-40D0FA26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38625"/>
            <a:ext cx="4476750" cy="2047875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7F2277-A4B8-4B6A-B454-8B82B131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148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B67A"/>
                </a:solidFill>
              </a:defRPr>
            </a:pPr>
            <a:r>
              <a:rPr sz="975" b="1">
                <a:solidFill>
                  <a:srgbClr val="27B67A"/>
                </a:solidFill>
              </a:rPr>
              <a:t>PROMISED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7D779C-A569-468B-9BCF-AB681113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768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</a:rPr>
              <a:t>₹50,000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578F1B-AEBD-44A6-B6EE-ACDDDD8F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483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188"/>
                </a:solidFill>
              </a:defRPr>
            </a:pPr>
            <a:r>
              <a:rPr sz="1275" b="0">
                <a:solidFill>
                  <a:srgbClr val="607188"/>
                </a:solidFill>
              </a:rPr>
              <a:t>12 months • zero interest</a:t>
            </a:r>
          </a:p>
          <a:p xmlns:a="http://schemas.openxmlformats.org/drawingml/2006/main">
            <a:pPr algn="l">
              <a:defRPr sz="1275" b="0">
                <a:solidFill>
                  <a:srgbClr val="607188"/>
                </a:solidFill>
              </a:defRPr>
            </a:pPr>
            <a:r>
              <a:rPr sz="1275" b="0">
                <a:solidFill>
                  <a:srgbClr val="607188"/>
                </a:solidFill>
              </a:rPr>
              <a:t>Free insurance • 2-year warranty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3A51C3-739F-4D35-8E51-7F56C617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933950"/>
            <a:ext cx="704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F80ED"/>
                </a:solidFill>
              </a:defRPr>
            </a:pPr>
            <a:r>
              <a:rPr sz="3300" b="1">
                <a:solidFill>
                  <a:srgbClr val="2F80ED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6D351F-FFEA-4903-96E7-E182C220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38625"/>
            <a:ext cx="5143500" cy="2047875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5589E3-1701-4212-8CFB-FE7CF094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148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EEFF"/>
                </a:solidFill>
              </a:defRPr>
            </a:pPr>
            <a:r>
              <a:rPr sz="975" b="1">
                <a:solidFill>
                  <a:srgbClr val="DCEEFF"/>
                </a:solidFill>
              </a:rPr>
              <a:t>TRUE PAYABLE COST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19A293-44F8-43EA-B6DB-245220AE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768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₹52,148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B93056-65F9-40B3-8EA9-6FA52A67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673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EFF"/>
                </a:solidFill>
              </a:defRPr>
            </a:pPr>
            <a:r>
              <a:rPr sz="1275" b="0">
                <a:solidFill>
                  <a:srgbClr val="DCEEFF"/>
                </a:solidFill>
              </a:rPr>
              <a:t>+ ₹999 processing fee</a:t>
            </a:r>
          </a:p>
          <a:p xmlns:a="http://schemas.openxmlformats.org/drawingml/2006/main">
            <a:pPr algn="l">
              <a:defRPr sz="1275" b="0">
                <a:solidFill>
                  <a:srgbClr val="DCEEFF"/>
                </a:solidFill>
              </a:defRPr>
            </a:pPr>
            <a:r>
              <a:rPr sz="1275" b="0">
                <a:solidFill>
                  <a:srgbClr val="DCEEFF"/>
                </a:solidFill>
              </a:rPr>
              <a:t>+ ₹1,149 discount loss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9B8023-E7B3-4467-9EBA-5BED4E12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895850"/>
            <a:ext cx="1762125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CE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BEEFDC-889E-4DF8-B8AF-16D9E8AC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72050"/>
            <a:ext cx="15335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24B5B"/>
                </a:solidFill>
              </a:defRPr>
            </a:pPr>
            <a:r>
              <a:rPr sz="975" b="1">
                <a:solidFill>
                  <a:srgbClr val="E24B5B"/>
                </a:solidFill>
              </a:rPr>
              <a:t>DISCREPANCY FOUND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F14C10-13CF-48B0-9505-B1B6960D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572250"/>
            <a:ext cx="1062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07188"/>
                </a:solidFill>
              </a:defRPr>
            </a:pPr>
            <a:r>
              <a:rPr sz="1275" b="1">
                <a:solidFill>
                  <a:srgbClr val="607188"/>
                </a:solidFill>
              </a:rPr>
              <a:t>MVP output: Promise Ledger + true-cost explanation + seller clarification card</a:t>
            </a:r>
          </a:p>
        </p:txBody>
      </p:sp>
    </p:spTree>
    <p:extLst>
      <p:ext uri="{BB962C8B-B14F-4D97-AF65-F5344CB8AC3E}">
        <p14:creationId xmlns:p14="http://schemas.microsoft.com/office/powerpoint/2010/main" val="2017595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44" name="Rectangle 43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3" name="Rectangle 42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2" name="Rectangle 41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1" name="Rectangle 40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92EAED9-6676-4D5E-9463-B335EF59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0572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1F3A"/>
                </a:solidFill>
              </a:defRPr>
            </a:pPr>
            <a:r>
              <a:rPr sz="975" b="1">
                <a:solidFill>
                  <a:srgbClr val="0B1F3A"/>
                </a:solidFill>
              </a:rPr>
              <a:t>TEAM ANKOR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5BB41F-652F-447D-B331-DF3B441E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0572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188"/>
                </a:solidFill>
              </a:defRPr>
            </a:pPr>
            <a:r>
              <a:rPr sz="975" b="1">
                <a:solidFill>
                  <a:srgbClr val="607188"/>
                </a:solidFill>
              </a:rPr>
              <a:t>IMPLEMENTATION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594D58-B0F0-46AE-8DCA-8FC68458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3525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FFEEB9-F143-4AF5-93DF-06C0F798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71437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88"/>
                </a:solidFill>
              </a:defRPr>
            </a:pPr>
            <a:r>
              <a:rPr sz="900" b="1">
                <a:solidFill>
                  <a:srgbClr val="607188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34D520-79C8-4B0D-966B-FFD3B707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14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80ED"/>
                </a:solidFill>
              </a:defRPr>
            </a:pPr>
            <a:r>
              <a:rPr sz="1050" b="1">
                <a:solidFill>
                  <a:srgbClr val="2F80ED"/>
                </a:solidFill>
              </a:rPr>
              <a:t>LOCAL-FIRST BY 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E68B85-ADEC-48C2-A183-E16F13D1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57400"/>
            <a:ext cx="742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B1F3A"/>
                </a:solidFill>
              </a:defRPr>
            </a:pPr>
            <a:r>
              <a:rPr sz="3450" b="1">
                <a:solidFill>
                  <a:srgbClr val="0B1F3A"/>
                </a:solidFill>
              </a:rPr>
              <a:t>Fast, private and explainable—without turning AI into a black box.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410151-9F9B-4222-9F2F-2A55C577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4325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188"/>
                </a:solidFill>
              </a:defRPr>
            </a:pPr>
            <a:r>
              <a:rPr sz="1500" b="0">
                <a:solidFill>
                  <a:srgbClr val="607188"/>
                </a:solidFill>
              </a:rPr>
              <a:t>The language model extracts and matches claims; deterministic rules calculate money and preserve accountability.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EA5614-2A56-4B88-B157-CB914164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38625"/>
            <a:ext cx="1571625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7C21E5-6A90-4A30-AE4A-36988527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19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80ED"/>
                </a:solidFill>
              </a:defRPr>
            </a:pPr>
            <a:r>
              <a:rPr sz="1050" b="1">
                <a:solidFill>
                  <a:srgbClr val="2F80ED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DDEFBA-F23A-4F26-AC66-9181AC6B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006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Capture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43394D-DCA3-4CEF-A511-48FE81A2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91125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88"/>
                </a:solidFill>
              </a:defRPr>
            </a:pPr>
            <a:r>
              <a:rPr sz="1050" b="0">
                <a:solidFill>
                  <a:srgbClr val="607188"/>
                </a:solidFill>
              </a:rPr>
              <a:t>Camera • mic • files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B05D0E-28EF-48FC-B135-89F5991F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7625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80ED"/>
                </a:solidFill>
              </a:defRPr>
            </a:pPr>
            <a:r>
              <a:rPr sz="1800" b="1">
                <a:solidFill>
                  <a:srgbClr val="2F80ED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EA1E2E-ABF2-477E-AB37-CC976E28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238625"/>
            <a:ext cx="1571625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CB7F83-84A0-482C-966E-8D4AA714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19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80ED"/>
                </a:solidFill>
              </a:defRPr>
            </a:pPr>
            <a:r>
              <a:rPr sz="1050" b="1">
                <a:solidFill>
                  <a:srgbClr val="2F80ED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53FFA8-B16E-4BCD-8720-20F63DDB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006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Extract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1DF3FE-D590-4C46-BE5E-9DEAF3FD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91125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88"/>
                </a:solidFill>
              </a:defRPr>
            </a:pPr>
            <a:r>
              <a:rPr sz="1050" b="0">
                <a:solidFill>
                  <a:srgbClr val="607188"/>
                </a:solidFill>
              </a:rPr>
              <a:t>OCR • speech-to-text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15B93E-5400-46B4-9166-1089BB57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7625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80ED"/>
                </a:solidFill>
              </a:defRPr>
            </a:pPr>
            <a:r>
              <a:rPr sz="1800" b="1">
                <a:solidFill>
                  <a:srgbClr val="2F80ED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75A6F7-5D18-4A14-BB26-611F951C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238625"/>
            <a:ext cx="1571625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3DCABD-D39D-463E-8976-0E1B4231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419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80ED"/>
                </a:solidFill>
              </a:defRPr>
            </a:pPr>
            <a:r>
              <a:rPr sz="1050" b="1">
                <a:solidFill>
                  <a:srgbClr val="2F80ED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78D40F-6373-42F0-8CFB-AB90D805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8006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Normalize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245E5C-7FD0-451F-92E6-EB978DDD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191125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88"/>
                </a:solidFill>
              </a:defRPr>
            </a:pPr>
            <a:r>
              <a:rPr sz="1050" b="0">
                <a:solidFill>
                  <a:srgbClr val="607188"/>
                </a:solidFill>
              </a:rPr>
              <a:t>Price • fee • condition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8B96DE-54F9-4B2E-BA9D-AA934697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7625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80ED"/>
                </a:solidFill>
              </a:defRPr>
            </a:pPr>
            <a:r>
              <a:rPr sz="1800" b="1">
                <a:solidFill>
                  <a:srgbClr val="2F80ED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09E545-F66D-4DFF-8721-FBDFA2A7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238625"/>
            <a:ext cx="1571625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FC0819-BB51-4613-8D04-81E057EA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19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80ED"/>
                </a:solidFill>
              </a:defRPr>
            </a:pPr>
            <a:r>
              <a:rPr sz="1050" b="1">
                <a:solidFill>
                  <a:srgbClr val="2F80ED"/>
                </a:solidFill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E569E8-277F-4687-916C-20216E79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8006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Compare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155747-532A-4381-B62A-33B7017E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191125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88"/>
                </a:solidFill>
              </a:defRPr>
            </a:pPr>
            <a:r>
              <a:rPr sz="1050" b="0">
                <a:solidFill>
                  <a:srgbClr val="607188"/>
                </a:solidFill>
              </a:rPr>
              <a:t>Semantic + rule matching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75BFF7-D82D-472A-8CE4-DCBF4FC1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625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80ED"/>
                </a:solidFill>
              </a:defRPr>
            </a:pPr>
            <a:r>
              <a:rPr sz="1800" b="1">
                <a:solidFill>
                  <a:srgbClr val="2F80ED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EC2CE6-C05B-40AF-B489-684D1B22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38625"/>
            <a:ext cx="1571625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F8EDF4-2F0E-4C14-A3AB-BAEA06F7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19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80ED"/>
                </a:solidFill>
              </a:defRPr>
            </a:pPr>
            <a:r>
              <a:rPr sz="1050" b="1">
                <a:solidFill>
                  <a:srgbClr val="2F80ED"/>
                </a:solidFill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6B1FC3-1D50-40ED-8CE5-74D967A3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006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Calculate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CD91A6-F936-4B2F-B77D-E323620DF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91125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88"/>
                </a:solidFill>
              </a:defRPr>
            </a:pPr>
            <a:r>
              <a:rPr sz="1050" b="0">
                <a:solidFill>
                  <a:srgbClr val="607188"/>
                </a:solidFill>
              </a:rPr>
              <a:t>EMI • tax • discount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F88CBC-4EAB-4A8F-ADDF-2CFE7439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7625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80ED"/>
                </a:solidFill>
              </a:defRPr>
            </a:pPr>
            <a:r>
              <a:rPr sz="1800" b="1">
                <a:solidFill>
                  <a:srgbClr val="2F80ED"/>
                </a:solidFill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1AEE88-ADE6-4232-9348-94CBF4AA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38625"/>
            <a:ext cx="1571625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03FF7D-869A-4B53-B8F8-6B778EFA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419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80ED"/>
                </a:solidFill>
              </a:defRPr>
            </a:pPr>
            <a:r>
              <a:rPr sz="1050" b="1">
                <a:solidFill>
                  <a:srgbClr val="2F80ED"/>
                </a:solidFill>
              </a:rPr>
              <a:t>06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869F8B-2226-4868-92BA-2EBB8EBD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8006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Explain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8DAC99-0BCE-4D77-BC60-C0EB7809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191125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88"/>
                </a:solidFill>
              </a:defRPr>
            </a:pPr>
            <a:r>
              <a:rPr sz="1050" b="0">
                <a:solidFill>
                  <a:srgbClr val="607188"/>
                </a:solidFill>
              </a:rPr>
              <a:t>Ledger • evidence • action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7F8AC36-B8EF-41F1-9AAD-E676A0EE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1062037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A71605-8EFC-487E-AB4B-CEC5C21C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2388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ENCRYPTED LOCAL VAULT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97F49D9-49A2-46A4-8E79-2AF3DE72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238875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EFF"/>
                </a:solidFill>
              </a:defRPr>
            </a:pPr>
            <a:r>
              <a:rPr sz="1200" b="0">
                <a:solidFill>
                  <a:srgbClr val="DCEEFF"/>
                </a:solidFill>
              </a:rPr>
              <a:t>User-controlled evidence • offline access • optional cloud fallback only</a:t>
            </a:r>
          </a:p>
        </p:txBody>
      </p:sp>
    </p:spTree>
    <p:extLst>
      <p:ext uri="{BB962C8B-B14F-4D97-AF65-F5344CB8AC3E}">
        <p14:creationId xmlns:p14="http://schemas.microsoft.com/office/powerpoint/2010/main" val="19576227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5" name="Rectangle 24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4" name="Rectangle 23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3" name="Rectangle 22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2" name="Rectangle 21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FECF6A-7695-4FF3-8FFA-F47FBE96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0572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1F3A"/>
                </a:solidFill>
              </a:defRPr>
            </a:pPr>
            <a:r>
              <a:rPr sz="975" b="1">
                <a:solidFill>
                  <a:srgbClr val="0B1F3A"/>
                </a:solidFill>
              </a:rPr>
              <a:t>TEAM ANKOR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C5411B-695A-4F10-899C-84B2D530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0572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188"/>
                </a:solidFill>
              </a:defRPr>
            </a:pPr>
            <a:r>
              <a:rPr sz="975" b="1">
                <a:solidFill>
                  <a:srgbClr val="607188"/>
                </a:solidFill>
              </a:rPr>
              <a:t>HACKATHON EXECUTION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45FAE6-EFA0-4E2C-B9F9-3111EB5A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3525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2D61B8-B44C-48EA-A453-30463058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71437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88"/>
                </a:solidFill>
              </a:defRPr>
            </a:pPr>
            <a:r>
              <a:rPr sz="900" b="1">
                <a:solidFill>
                  <a:srgbClr val="607188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AACD91-FD83-402D-9ABD-43CEC059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14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80ED"/>
                </a:solidFill>
              </a:defRPr>
            </a:pPr>
            <a:r>
              <a:rPr sz="1050" b="1">
                <a:solidFill>
                  <a:srgbClr val="2F80ED"/>
                </a:solidFill>
              </a:rPr>
              <a:t>DESIGNED AROUND RED LIGHT AND GREEN LIGHT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B91C50-804C-4D0F-9178-BD0A66D4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57400"/>
            <a:ext cx="742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B1F3A"/>
                </a:solidFill>
              </a:defRPr>
            </a:pPr>
            <a:r>
              <a:rPr sz="3450" b="1">
                <a:solidFill>
                  <a:srgbClr val="0B1F3A"/>
                </a:solidFill>
              </a:rPr>
              <a:t>The build plan treats phone-first development as an advantage—not a restriction.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A3DA66-43C9-49AE-AB2D-CFE303DB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43350"/>
            <a:ext cx="60769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24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B63914-28FD-4F7A-929A-1675003E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5290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55%  RED LIGHT • PHONE-FIRST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2FE1FA-34C4-48F2-92A7-9FF6B759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43350"/>
            <a:ext cx="45529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27B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62F1F5-3836-40C9-8A3A-F3BEA3D9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152900"/>
            <a:ext cx="407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45%  GREEN LIGHT • BOTH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D38D71-D0BC-459B-892B-71ABECB0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33950"/>
            <a:ext cx="509587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2751E6-9582-4840-8AB8-40CDAD64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1435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24B5B"/>
                </a:solidFill>
              </a:defRPr>
            </a:pPr>
            <a:r>
              <a:rPr sz="1050" b="1">
                <a:solidFill>
                  <a:srgbClr val="E24B5B"/>
                </a:solidFill>
              </a:rPr>
              <a:t>RED LIGHT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C4A874-400F-499A-AF32-762CCDF9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486400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63F"/>
                </a:solidFill>
              </a:defRPr>
            </a:pPr>
            <a:r>
              <a:rPr sz="1275" b="0">
                <a:solidFill>
                  <a:srgbClr val="15263F"/>
                </a:solidFill>
              </a:rPr>
              <a:t>Android UI • camera and microphone flows • on-device inference • end-to-end phone testing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670DD2-DF5B-45AA-A0B3-67D3AFDAE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933950"/>
            <a:ext cx="536257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AB9CB9-80F5-472A-A29B-25B16D4B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1435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7B67A"/>
                </a:solidFill>
              </a:defRPr>
            </a:pPr>
            <a:r>
              <a:rPr sz="1050" b="1">
                <a:solidFill>
                  <a:srgbClr val="27B67A"/>
                </a:solidFill>
              </a:rPr>
              <a:t>GREEN LIGHT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DD30CF-ED23-4EB7-B243-F077D4FCC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4864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63F"/>
                </a:solidFill>
              </a:defRPr>
            </a:pPr>
            <a:r>
              <a:rPr sz="1275" b="0">
                <a:solidFill>
                  <a:srgbClr val="15263F"/>
                </a:solidFill>
              </a:rPr>
              <a:t>Model preparation • laptop-heavy integration • debugging • performance tuning • demo polish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CB7B13-A920-466E-8297-75BB4DEF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553200"/>
            <a:ext cx="1428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5180B2-C95D-40CF-B504-CE4CC1D56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629400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F3A"/>
                </a:solidFill>
              </a:defRPr>
            </a:pPr>
            <a:r>
              <a:rPr sz="975" b="1">
                <a:solidFill>
                  <a:srgbClr val="0B1F3A"/>
                </a:solidFill>
              </a:rPr>
              <a:t>OFFICE KIT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F38EC6-2C10-4BEA-AC08-346725CF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66198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7188"/>
                </a:solidFill>
              </a:defRPr>
            </a:pPr>
            <a:r>
              <a:rPr sz="1200" b="1">
                <a:solidFill>
                  <a:srgbClr val="607188"/>
                </a:solidFill>
              </a:rPr>
              <a:t>Screen mirror • shared clipboard • file transfer • remote input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2BFCF9-59E3-44DC-B5ED-8569DEC0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619875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F80ED"/>
                </a:solidFill>
              </a:defRPr>
            </a:pPr>
            <a:r>
              <a:rPr sz="1200" b="1">
                <a:solidFill>
                  <a:srgbClr val="2F80ED"/>
                </a:solidFill>
              </a:rPr>
              <a:t>10% OF SCORE</a:t>
            </a:r>
          </a:p>
        </p:txBody>
      </p:sp>
    </p:spTree>
    <p:extLst>
      <p:ext uri="{BB962C8B-B14F-4D97-AF65-F5344CB8AC3E}">
        <p14:creationId xmlns:p14="http://schemas.microsoft.com/office/powerpoint/2010/main" val="20946012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47" name="Rectangle 46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6" name="Rectangle 45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5" name="Rectangle 44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4" name="Rectangle 43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518DD27-B369-42AF-9DBC-B01E91BE4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0572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1F3A"/>
                </a:solidFill>
              </a:defRPr>
            </a:pPr>
            <a:r>
              <a:rPr sz="975" b="1">
                <a:solidFill>
                  <a:srgbClr val="0B1F3A"/>
                </a:solidFill>
              </a:rPr>
              <a:t>TEAM ANKOR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021943-1A67-4804-A9A1-58E35CA3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0572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188"/>
                </a:solidFill>
              </a:defRPr>
            </a:pPr>
            <a:r>
              <a:rPr sz="975" b="1">
                <a:solidFill>
                  <a:srgbClr val="607188"/>
                </a:solidFill>
              </a:rPr>
              <a:t>DEMO + SCALE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D6ADE1-0604-4159-AFCE-00EAC94A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3525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1F624D-11E4-4CCC-AD3D-CC1288F8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71437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88"/>
                </a:solidFill>
              </a:defRPr>
            </a:pPr>
            <a:r>
              <a:rPr sz="900" b="1">
                <a:solidFill>
                  <a:srgbClr val="607188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EF56E9-D50A-428A-9B66-29FEC447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14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80ED"/>
                </a:solidFill>
              </a:defRPr>
            </a:pPr>
            <a:r>
              <a:rPr sz="1050" b="1">
                <a:solidFill>
                  <a:srgbClr val="2F80ED"/>
                </a:solidFill>
              </a:rPr>
              <a:t>A FOCUSED DEMO PROVES THE PRODUCT TODAY—AND ITS SCALE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1467EC-CC06-4186-A3EE-3E50D071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57400"/>
            <a:ext cx="742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B1F3A"/>
                </a:solidFill>
              </a:defRPr>
            </a:pPr>
            <a:r>
              <a:rPr sz="3450" b="1">
                <a:solidFill>
                  <a:srgbClr val="0B1F3A"/>
                </a:solidFill>
              </a:rPr>
              <a:t>One visible discrepancy is more persuasive than ten unfinished features.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57EF24-26CC-4E14-B0F5-58AAA500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52875"/>
            <a:ext cx="5048250" cy="2524125"/>
          </a:xfrm>
          <a:prstGeom xmlns:a="http://schemas.openxmlformats.org/drawingml/2006/main" prst="roundRect">
            <a:avLst>
              <a:gd name="adj" fmla="val 4528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289A58-3AB2-487C-80F7-FF9C154B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10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7D5E8"/>
                </a:solidFill>
              </a:defRPr>
            </a:pPr>
            <a:r>
              <a:rPr sz="1050" b="1">
                <a:solidFill>
                  <a:srgbClr val="67D5E8"/>
                </a:solidFill>
              </a:rPr>
              <a:t>LIVE DEMO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55179A-6A45-4DCF-8E70-6B38E771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10100"/>
            <a:ext cx="2667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770EF9-F1DE-4318-A2DE-8B50A59D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672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27C349-D664-4416-BFD4-89BDCA4A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638675"/>
            <a:ext cx="3857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Capture the no-cost EMI 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759370-3E0E-49B5-B492-B619646E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53000"/>
            <a:ext cx="2667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1C9595-05F1-415F-8D34-F44CE785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101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BA0AE0-EBC4-468E-B166-CF92F788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981575"/>
            <a:ext cx="3857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Record a consented explanation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620721-8984-44A6-8842-9308F14B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295900"/>
            <a:ext cx="2667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0EF809-E7B8-4499-A01A-1B3DAF9C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530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E1EB7B-F9F8-44CE-9444-C701D49F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324475"/>
            <a:ext cx="3857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Scan invoice / KFS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31A59E-33F6-4B34-9B4B-C9D76798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638800"/>
            <a:ext cx="2667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0E6C91-A829-46F7-9614-DDC63C0D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6959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A01CFF-4272-4050-803A-DCE74397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667375"/>
            <a:ext cx="3857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Reveal the extra ₹2,148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528684-BC34-4E27-84AC-0112F650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981700"/>
            <a:ext cx="2667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96D31A-52A9-4FE9-B399-8742640F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0388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991128-9591-4402-A841-E66338CF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6010275"/>
            <a:ext cx="3857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Create clarification card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0501E7-3E30-46DA-B10E-FA44919B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1148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80ED"/>
                </a:solidFill>
              </a:defRPr>
            </a:pPr>
            <a:r>
              <a:rPr sz="1050" b="1">
                <a:solidFill>
                  <a:srgbClr val="2F80ED"/>
                </a:solidFill>
              </a:rPr>
              <a:t>SCALE THE SAME ENGINE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4F3709-5854-409F-BAC3-D0A102A0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514850"/>
            <a:ext cx="2095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32E6B5-E9D5-4D80-BA2B-1291A5BA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591050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Appliances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E0AF0F-7FED-4BC1-BBFE-AF552D6A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514850"/>
            <a:ext cx="2095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2F6E5D-27F2-45C1-9501-202177A2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591050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Insurance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AE3A3D-3E16-4AD1-8186-D5ACA05E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972050"/>
            <a:ext cx="2095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F84B4E-34D7-44AF-9AB6-62EA93138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048250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Telecom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205264-D0EE-4CE7-9B71-77E680AB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972050"/>
            <a:ext cx="2095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89C28C-EA3E-4BFC-926B-F646CBE5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048250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Travel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EA92D1-0D69-472B-AF86-8254576F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429250"/>
            <a:ext cx="2095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4BB763-C7CA-48C5-83D9-6BB74B86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505450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Rentals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0CE23F-E092-4405-8CE6-C3510210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429250"/>
            <a:ext cx="2095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0F892E-1A2F-43AC-87F5-AFF6117B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505450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Education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922BFC8-5E6B-48AE-B350-4408311E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886450"/>
            <a:ext cx="2095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E9A08AA-9D76-4C7C-B775-D630C0F8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962650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Healthcare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8C9B7E2-0EF7-46DA-BF3C-332F1FD2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886450"/>
            <a:ext cx="2095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5CBB2AC-A9B1-49F7-BEDF-128B68A2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962650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Subscriptions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39FA5AB-7FF4-4870-A0AB-E866153E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4579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07188"/>
                </a:solidFill>
              </a:defRPr>
            </a:pPr>
            <a:r>
              <a:rPr sz="900" b="1">
                <a:solidFill>
                  <a:srgbClr val="607188"/>
                </a:solidFill>
              </a:rPr>
              <a:t>RUBRIC FIT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6EB4E9E-6541-4B64-94EA-FDD7CFDE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438900"/>
            <a:ext cx="385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30 Quality  •  20 Novelty  •  15 Tech  •  15 Phone  •  10 Office Kit  •  10 Demo</a:t>
            </a:r>
          </a:p>
        </p:txBody>
      </p:sp>
    </p:spTree>
    <p:extLst>
      <p:ext uri="{BB962C8B-B14F-4D97-AF65-F5344CB8AC3E}">
        <p14:creationId xmlns:p14="http://schemas.microsoft.com/office/powerpoint/2010/main" val="20092536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4" name="Rectangle 23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3" name="Rectangle 22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2" name="Rectangle 21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16D93E-FC98-474C-B8E5-D0EFF0AF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0572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1F3A"/>
                </a:solidFill>
              </a:defRPr>
            </a:pPr>
            <a:r>
              <a:rPr sz="975" b="1">
                <a:solidFill>
                  <a:srgbClr val="0B1F3A"/>
                </a:solidFill>
              </a:rPr>
              <a:t>TEAM ANKOR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07AC7A-B29C-41E2-A113-918334A3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0572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188"/>
                </a:solidFill>
              </a:defRPr>
            </a:pPr>
            <a:r>
              <a:rPr sz="975" b="1">
                <a:solidFill>
                  <a:srgbClr val="607188"/>
                </a:solidFill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DAB23D-5B6E-402B-9F92-26AB990C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3525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9A49CC-1938-4B1A-91CA-BB851296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71437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88"/>
                </a:solidFill>
              </a:defRPr>
            </a:pPr>
            <a:r>
              <a:rPr sz="900" b="1">
                <a:solidFill>
                  <a:srgbClr val="607188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801F99-3A51-4C35-92DE-94287FBB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885950"/>
            <a:ext cx="8572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B1F3A"/>
                </a:solidFill>
              </a:defRPr>
            </a:pPr>
            <a:r>
              <a:rPr sz="3450" b="1">
                <a:solidFill>
                  <a:srgbClr val="0B1F3A"/>
                </a:solidFill>
              </a:rPr>
              <a:t>DealTwin can become the trust layer</a:t>
            </a:r>
          </a:p>
          <a:p xmlns:a="http://schemas.openxmlformats.org/drawingml/2006/main">
            <a:pPr algn="l">
              <a:defRPr sz="3450" b="1">
                <a:solidFill>
                  <a:srgbClr val="0B1F3A"/>
                </a:solidFill>
              </a:defRPr>
            </a:pPr>
            <a:r>
              <a:rPr sz="3450" b="1">
                <a:solidFill>
                  <a:srgbClr val="0B1F3A"/>
                </a:solidFill>
              </a:rPr>
              <a:t>between a promise and a payment.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0A3199-2D66-419D-8FDF-AA6BEC47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19500"/>
            <a:ext cx="32385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A2F3FF-EC8E-41C1-AD6E-0D0CC006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848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80ED"/>
                </a:solidFill>
              </a:defRPr>
            </a:pPr>
            <a:r>
              <a:rPr sz="1050" b="1">
                <a:solidFill>
                  <a:srgbClr val="2F80ED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2241F4-3E7B-4CF9-BFB9-03F1BE9E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2481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Real utility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F0092F-9D96-436A-8EA9-71B64BF1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24400"/>
            <a:ext cx="2724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188"/>
                </a:solidFill>
              </a:defRPr>
            </a:pPr>
            <a:r>
              <a:rPr sz="1200" b="0">
                <a:solidFill>
                  <a:srgbClr val="607188"/>
                </a:solidFill>
              </a:rPr>
              <a:t>A familiar problem with immediate financial impact.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765C7D-4BB3-4AE6-8715-F1FC59FE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619500"/>
            <a:ext cx="32385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5D1422-ADE3-4EDF-A9D1-7F411ED9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848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80ED"/>
                </a:solidFill>
              </a:defRPr>
            </a:pPr>
            <a:r>
              <a:rPr sz="1050" b="1">
                <a:solidFill>
                  <a:srgbClr val="2F80ED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945944-516D-4F73-A750-48611508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2481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Defensible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4EA1AE-49B7-4D84-A599-1AC54F3E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724400"/>
            <a:ext cx="2724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188"/>
                </a:solidFill>
              </a:defRPr>
            </a:pPr>
            <a:r>
              <a:rPr sz="1200" b="0">
                <a:solidFill>
                  <a:srgbClr val="607188"/>
                </a:solidFill>
              </a:rPr>
              <a:t>Evidence links and deterministic calculations build trust.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D83CCF-ACF0-4E4D-A46F-1A1412B5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19500"/>
            <a:ext cx="32385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3A8AFB-FA71-492E-8478-3C7EA297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48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80ED"/>
                </a:solidFill>
              </a:defRPr>
            </a:pPr>
            <a:r>
              <a:rPr sz="1050" b="1">
                <a:solidFill>
                  <a:srgbClr val="2F80ED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DE9772-7EF8-4F9F-9F4E-6A4D46DC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481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Built to scale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942389-6AA6-478C-89AB-DF76F471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724400"/>
            <a:ext cx="2724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188"/>
                </a:solidFill>
              </a:defRPr>
            </a:pPr>
            <a:r>
              <a:rPr sz="1200" b="0">
                <a:solidFill>
                  <a:srgbClr val="607188"/>
                </a:solidFill>
              </a:rPr>
              <a:t>The same engine works across consumer contracts.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0E55EF-192B-4475-B6AA-01AE036A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981700"/>
            <a:ext cx="1047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57DD00-A695-46BB-8B18-D5B17016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210300"/>
            <a:ext cx="986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Companies remember what customers signed. DealTwin remembers what they were promised.</a:t>
            </a:r>
          </a:p>
        </p:txBody>
      </p:sp>
    </p:spTree>
    <p:extLst>
      <p:ext uri="{BB962C8B-B14F-4D97-AF65-F5344CB8AC3E}">
        <p14:creationId xmlns:p14="http://schemas.microsoft.com/office/powerpoint/2010/main" val="13028606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2" name="Rectangle 21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55F948-FAAE-4172-A73F-833469B9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3335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7D5E8"/>
                </a:solidFill>
              </a:defRPr>
            </a:pPr>
            <a:r>
              <a:rPr sz="1050" b="1">
                <a:solidFill>
                  <a:srgbClr val="67D5E8"/>
                </a:solidFill>
              </a:rPr>
              <a:t>TEAM ANKOR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87B7F7-D6E8-43B5-BCE7-F44DC348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00350"/>
            <a:ext cx="628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Thank you.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BC0E2F-94AE-45BE-8D76-49DAEBC0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29050"/>
            <a:ext cx="647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CEEFF"/>
                </a:solidFill>
              </a:defRPr>
            </a:pPr>
            <a:r>
              <a:rPr sz="2100" b="1">
                <a:solidFill>
                  <a:srgbClr val="DCEEFF"/>
                </a:solidFill>
              </a:rPr>
              <a:t>Remember the promise. Verify the deal.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457406-C26E-4D6E-854B-9423CA80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857750"/>
            <a:ext cx="27146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41E096-D9AF-4EB0-8347-D6C6F349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010150"/>
            <a:ext cx="2409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QUESTIONS + LIVE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375806-CB2A-4838-B4CC-C3C36D6B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95500"/>
            <a:ext cx="2333625" cy="4191000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3B89D5-ABFA-4877-A86D-E6F09C4A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38400"/>
            <a:ext cx="1952625" cy="342900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E42C1F-5EFB-4511-B72E-094B7625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857500"/>
            <a:ext cx="1524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E8F1CD-EA1E-4D4F-B570-3B1111C3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93370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F3A"/>
                </a:solidFill>
              </a:defRPr>
            </a:pPr>
            <a:r>
              <a:rPr sz="975" b="1">
                <a:solidFill>
                  <a:srgbClr val="0B1F3A"/>
                </a:solidFill>
              </a:rPr>
              <a:t>PROMISE LEDGER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B2DE83-4B8D-4A13-B79A-4542D05C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524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4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44A0FA-FB37-40CA-B483-8CE8261E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61950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7B67A"/>
                </a:solidFill>
              </a:defRPr>
            </a:pPr>
            <a:r>
              <a:rPr sz="975" b="1">
                <a:solidFill>
                  <a:srgbClr val="27B67A"/>
                </a:solidFill>
              </a:rPr>
              <a:t>KEPT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DEBE7A-008D-4F8A-A7ED-4022ED2F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38600"/>
            <a:ext cx="1524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CE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DF646C-5DBB-42E8-961E-7621F2855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1480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24B5B"/>
                </a:solidFill>
              </a:defRPr>
            </a:pPr>
            <a:r>
              <a:rPr sz="975" b="1">
                <a:solidFill>
                  <a:srgbClr val="E24B5B"/>
                </a:solidFill>
              </a:rPr>
              <a:t>CHANGED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6822AA-682A-415C-83E3-D95AC50C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533900"/>
            <a:ext cx="1524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5E43DE-5ED8-4148-889B-9EB4F1FC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61010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80ED"/>
                </a:solidFill>
              </a:defRPr>
            </a:pPr>
            <a:r>
              <a:rPr sz="975" b="1">
                <a:solidFill>
                  <a:srgbClr val="2F80ED"/>
                </a:solidFill>
              </a:rPr>
              <a:t>TRUE COST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2D60DB-24D9-4FF0-8D8D-F368C6D6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578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DealTwin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C7028C-5569-483C-945C-F74E2BF2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71628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CEEFF"/>
                </a:solidFill>
              </a:defRPr>
            </a:pPr>
            <a:r>
              <a:rPr sz="900" b="1">
                <a:solidFill>
                  <a:srgbClr val="DCEEFF"/>
                </a:solidFill>
              </a:rPr>
              <a:t>10 / 10</a:t>
            </a:r>
          </a:p>
        </p:txBody>
      </p:sp>
    </p:spTree>
    <p:extLst>
      <p:ext uri="{BB962C8B-B14F-4D97-AF65-F5344CB8AC3E}">
        <p14:creationId xmlns:p14="http://schemas.microsoft.com/office/powerpoint/2010/main" val="8084503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2026-08-24T16:27:18.2730000Z</dcterms:created>
  <dcterms:modified xsi:type="dcterms:W3CDTF">2026-08-24T16:27:18.2730000Z</dcterms:modified>
</coreProperties>
</file>